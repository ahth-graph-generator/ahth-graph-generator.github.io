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แนะนำตัวโปรเจกต์: เว็บที่อ่านไฟล์ log ของตู้เย็นแล้วแสดงกราฟอุณหภูมิและสถานะชิ้นส่วน สไลด์ชุดนี้สอนว่าโปรแกรมทำงานอย่างไร และทำงานประจำ (เพิ่มรายการ ทดสอบ release) ทีละขั้น เอกสารละเอียดอยู่ใน docs/WORKFLOW.md และ docs/GUIDE.md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จุดสำคัญ: หน้าเว็บเป็น static site (GitHub Pages) · บริการวิเคราะห์ไฟล์ Log ทำทุกอย่างใน browser ไฟล์ไม่ถูก upload · บริการติดตามสถานะ Data Logger (v2.0) ดึงข้อมูลจาก Google Drive ผ่าน Cloudflare Worker ซึ่งตรวจ login ทุกคำขอ · ไฟล์จริงใหญ่ได้ถึง 100 MB (~200,000 แถว) จึงต้องอ่านใน Web Worker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v2.0 แยกเป็นหลายหน้า: หน้าแรกเลือกบริการ · หน้าวิเคราะห์ไฟล์คือหน้าเดิมของ v1 · หน้ากราฟของเครื่องใช้ analyze.html เดิม แค่เติม ?device= (ไม่ทำหน้าแยก เพื่อไม่ต้องดูแลหน้ากราฟ 2 ชุด) · monitor.html และ admin.html ต้อง login · ?demo = ข้อมูลจำลองไม่ต้อง login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เล่าตามลูกศร: ผู้ใช้เลือกไฟล์ → main.js สร้าง Worker แล้วส่ง File object ไป (ไม่ upload) → Worker ใช้ sources.js แปลงไฟล์เป็นแถว หาคอลัมน์จากชื่อ เก็บค่าลง typed array → ส่ง result กลับ → main.js สร้างรายการ ตาราง กราฟ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เน้น logformat.js: ชื่อคอลัมน์ สี ตำแหน่ง ทั้งหมดอยู่ที่นี่ การเพิ่มเส้นใหม่ส่วนใหญ่เพิ่มบรรทัดเดียวใน STATUS_ITEMS Worker จะอ่านคอลัมน์ให้เองอัตโนมัติ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ขั้นที่ 2 (หาคอลัมน์จากชื่อ) สำคัญที่สุด: ไฟล์จาก firmware ต่างรุ่นมีจำนวน/ลำดับคอลัมน์ต่างกัน ถ้าไม่มีคอลัมน์ไหนจะแจ้งผู้ใช้แต่ไม่หยุด · วันที่มีหลายรูปแบบตาม logger · sampling หาอัตโนมัติจาก median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sensor มาจากตาราง SENSORS (คอลัมน์ .InC) ที่เหลือมาจาก STATUS_ITEMS · line แปลงค่าเป็นตำแหน่ง Y (2 ระดับ ON/OFF หรือเทียบสัดส่วน) · marker วาดตอนเกิดเหตุการณ์ · value แสดงแค่ตัวเลข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ส่วนที่เพิ่มใน v2.0 — ดูข้อมูลจาก ESP32 Data Logger ได้โดยไม่ต้องดาวน์โหลดไฟล์มาเปิดเอง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เล่าตามลูกศร · เว็บถามข้อมูลใหม่ทุก 1 นาที และทันทีเมื่อกลับมาที่หน้า · ไฟล์วันที่ผ่านไปแล้วขอด้วย ?v=&lt;เวลาแก้ไข&gt; Worker และ browser จำไว้ถาวร โหลดใหม่เฉพาะไฟล์วันนี้ · Online = ไฟล์ถูกแก้ภายใน 25 นาที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ไฟล์เดิม (main.js, chart.js, parser.worker.js …) ใช้ต่อทั้งหมด · parser.worker.js เพิ่ม espAdapter() ที่แปลงแถว ESP32 เป็นแถวแบบ log ก่อนส่งให้ parser เดิม · main.js เพิ่ม loadFile(…, { keepView }) ให้หน้ากราฟของเครื่องอัปเดตโดยไม่รีเซ็ตมุมมอง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espAdapter แปลงแถวแรก timestamp,raw_hex เป็น header [Timestamp + 187 ชื่อ] แล้วแต่ละแถวเป็นค่าที่ถอดแล้ว parser / กราฟ / Real data ใช้ของเดิมทั้งหมด · enum 16 ฟิลด์ยังเป็นเลขดิบ (ผู้ใช้จะเพิ่มตารางข้อความภายหลัง)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ชื่อย่อเซนเซอร์ใช้เฉพาะการ์ด (กราฟเต็มใช้ชื่อเต็ม) · แผงควบคุมดึงรายการกลุ่ม CONTROL PANEL ใน STATUS_ITEMS อัตโนมัติ · ปรับปรุงทุก 1 นาที + ทันทีเมื่อกลับมาที่หน้า ไอคอน ↻ หมุนระหว่างโหลด · กดการ์ด = analyze.html?device=&lt;ชื่อ&gt;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token เก็บใน localStorage (ต่อเครื่อง/browser) อายุ 30 วัน · ออกจากระบบหรือล้างข้อมูล browser ต้อง login ใหม่ · โควต้าอีเมล Apps Script ~100 ฉบับ/วัน (บัญชี Gmail) พอสำหรับผู้ใช้ ~10 คน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repo เป็น Public: ค่าลับทุกตัวอยู่ในหน้าตั้งค่าของ Google / Cloudflare เท่านั้น · WORKER_URL เปิดเผยได้เพราะป้องกันด้วย login · ถ้าสงสัยว่ารหัสลับหลุด เปลี่ยนตามหัวข้อท้ายคู่มือ (SESSION_SECRET ใหม่ = ทุกคนต้อง login ใหม่)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ครึ่งหลังเป็นภาคปฏิบัติ ทำตามได้ทีละขั้น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รัน server ตัวเล็กของ Python ที่โฟลเดอร์โปรเจกต์ เปิด localhost:8000 · ห้ามเปิดไฟล์ด้วยดับเบิลคลิก · ถ้าแก้โค้ดแล้วไม่เปลี่ยนให้ Ctrl+F5 · ไฟล์จริงสำหรับทดสอบใส่ใน samples/private/ (ไม่ถูก commit)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ขั้น 1: เปิดไฟล์จริงดูชื่อคอลัมน์และค่า (มีคำสั่ง python ใน GUIDE.md) · ขั้น 3 คือหัวใจ เพิ่มบรรทัดเดียว · ขั้น 5 กฎ: ไฟล์ตัวอย่างต้องมีข้อมูลทุกเส้น · ขั้น 7 ถ้าไม่อัปเดต CLAUDE.md ครั้งหน้าจะไม่มีใครรู้ว่าตั้งใจให้เป็นแบบนี้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อธิบายทีละช่อง ส่วนช่องเสริมอธิบายไว้ใน comment ด้านบน STATUS_ITEMS และใน GUIDE.md ข้อ 4 ถ้าต้องการหัวข้อใหม่ เพิ่มใน TABLE_GROUPS ใน main.js (slot = ตำแหน่งบนจอแนวนอน)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เกือบทุกอย่างแก้ที่ js/logformat.js · error ของเซนเซอร์ และค่าตัด/ต่อ ดึงสีจากเซนเซอร์/พัดลมเองอัตโนมัติ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เช็กลิสต์เต็มอยู่ใน GUIDE.md ข้อ 6 · big.log สร้างด้วย python tools/make-sample.py --big · ระหว่างโหลดไฟล์ใหญ่ลองเลื่อนหน้า/ขยับเมาส์ ต้องไม่ค้าง · ระบบสมาชิกทดสอบครบรอบ: สมัคร → อนุมัติ → ถอนสิทธิ์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ขั้นที่ 3 สำคัญที่สุด: repo เป็น Public ไฟล์ log จริงหลุดขึ้นไปแล้วเอาคืนยาก .gitignore กัน *.log *.xlsx *.csv ~$* และ samples/private/ ไว้แล้ว แต่ต้องดู git status ทุกครั้ง · หลัง push ถ้ายังเห็นเวอร์ชันเก่าคือ browser cache กด Ctrl+F5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ตารางเต็มอยู่ใน GUIDE.md ข้อ 8 และ docs/MONITORING-SETUP.md · N/A ที่ขึ้นเองส่วนใหญ่ถูกต้อง เช่น ตู้ไม่มี Ice maker, heater สั่งงานเป็น 0 ทั้งไฟล์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สรุป 5 ข้อที่ต้องจำ แล้วชี้ไปที่เอกสารฉบับเต็มใน repo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" y="1097280"/>
            <a:ext cx="822960" cy="822960"/>
          </a:xfrm>
          <a:prstGeom prst="ellipse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°C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AHTH Graph Generator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4612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0" i="0">
                <a:solidFill>
                  <a:srgbClr val="7FD1D8"/>
                </a:solidFill>
                <a:latin typeface="Leelawadee UI"/>
                <a:ea typeface="Leelawadee UI"/>
                <a:cs typeface="Leelawadee UI"/>
              </a:rPr>
              <a:t>คู่มือการพัฒนาและดูแลระบบ — ทำทีละขั้น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B8C4D4"/>
                </a:solidFill>
                <a:latin typeface="Leelawadee UI"/>
                <a:ea typeface="Leelawadee UI"/>
                <a:cs typeface="Leelawadee UI"/>
              </a:rPr>
              <a:t>ระบบวิเคราะห์และติดตามข้อมูลตู้เย็น: วิเคราะห์ไฟล์ Log + ติดตามสถานะ Data Logger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B8C4D4"/>
                </a:solidFill>
                <a:latin typeface="Leelawadee UI"/>
                <a:ea typeface="Leelawadee UI"/>
                <a:cs typeface="Leelawadee UI"/>
              </a:rPr>
              <a:t>Release 2.4 · https://ahth-graph-generator.github.io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โปรแกรมนี้คืออะไร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เว็บ static บน GitHub Pages — 2 บริการ: วิเคราะห์ไฟล์ Log (ในเครื่อง) + ติดตามสถานะ Data Logger (ต้อง login)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2606040" cy="2377440"/>
          </a:xfrm>
          <a:prstGeom prst="roundRect">
            <a:avLst>
              <a:gd name="adj" fmla="val 8000"/>
            </a:avLst>
          </a:prstGeom>
          <a:solidFill>
            <a:srgbClr val="E6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22959" y="2148840"/>
            <a:ext cx="2194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400" b="1" i="0">
                <a:solidFill>
                  <a:srgbClr val="F25C54"/>
                </a:solidFill>
                <a:latin typeface="Leelawadee UI"/>
                <a:ea typeface="Leelawadee UI"/>
                <a:cs typeface="Leelawadee UI"/>
              </a:rPr>
              <a:t>100+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3154680"/>
            <a:ext cx="2103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MB ต่อไฟล์ log ที่อ่านได้
โดยหน้าเว็บไม่ค้าง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64992" y="1828800"/>
            <a:ext cx="2606040" cy="2377440"/>
          </a:xfrm>
          <a:prstGeom prst="roundRect">
            <a:avLst>
              <a:gd name="adj" fmla="val 8000"/>
            </a:avLst>
          </a:prstGeom>
          <a:solidFill>
            <a:srgbClr val="E6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639312" y="2148840"/>
            <a:ext cx="2194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400" b="1" i="0">
                <a:solidFill>
                  <a:srgbClr val="0E7C86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9312" y="3154680"/>
            <a:ext cx="2103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บริการ: วิเคราะห์ไฟล์
+ ติดตาม Data Logger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828800"/>
            <a:ext cx="2606040" cy="2377440"/>
          </a:xfrm>
          <a:prstGeom prst="roundRect">
            <a:avLst>
              <a:gd name="adj" fmla="val 8000"/>
            </a:avLst>
          </a:prstGeom>
          <a:solidFill>
            <a:srgbClr val="E6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55664" y="2148840"/>
            <a:ext cx="2194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400" b="1" i="0">
                <a:solidFill>
                  <a:srgbClr val="0E7C86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3154680"/>
            <a:ext cx="2103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ชนิดไฟล์ที่รับ .log .txt
.csv .xlsx + CSV ดิบ ESP32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97696" y="1828800"/>
            <a:ext cx="2606040" cy="2377440"/>
          </a:xfrm>
          <a:prstGeom prst="roundRect">
            <a:avLst>
              <a:gd name="adj" fmla="val 8000"/>
            </a:avLst>
          </a:prstGeom>
          <a:solidFill>
            <a:srgbClr val="E6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272016" y="2148840"/>
            <a:ext cx="2194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400" b="1" i="0">
                <a:solidFill>
                  <a:srgbClr val="0E7C86"/>
                </a:solidFill>
                <a:latin typeface="Leelawadee UI"/>
                <a:ea typeface="Leelawadee UI"/>
                <a:cs typeface="Leelawadee UI"/>
              </a:rPr>
              <a:t>40+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72016" y="3154680"/>
            <a:ext cx="2103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เส้นและสัญลักษณ์
บนกราฟเดียว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663440"/>
            <a:ext cx="110642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60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ใช้อะไรสร้าง  </a:t>
            </a:r>
            <a:r>
              <a:rPr sz="160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HTML + CSS + JavaScript ล้วน (ES modules) · ไม่มี build step · กราฟใช้ uPlot 1.6.32 จาก CDN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60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ใช้ทำอะไร  </a:t>
            </a:r>
            <a:r>
              <a:rPr sz="160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ดูอุณหภูมิ + การทำงานของ compressor / พัดลม / heater / valve / error ตามเวลา, เลือกช่วงดู Min/Max/Avg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60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ข้อมูลอยู่ที่ไหน  </a:t>
            </a:r>
            <a:r>
              <a:rPr sz="160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ไฟล์ที่เปิดเองอ่านในเครื่องเท่านั้น · ข้อมูล Data Logger ดึงผ่าน Worker ที่ตรวจสิทธิ์ทุกคำขอ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หน้าเว็บทั้งหมด (v2.0)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แต่ละหน้ามีหน้าที่อะไร และทำเพื่ออะไร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37360"/>
            <a:ext cx="2971800" cy="4572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หน้า (ไฟล์)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11880" y="1737360"/>
            <a:ext cx="3977639" cy="4572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749040" y="1828800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หน้าที่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1737360"/>
            <a:ext cx="3063240" cy="4572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18120" y="182880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ทำเพื่ออะไร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835640" y="1737360"/>
            <a:ext cx="777240" cy="4572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972800" y="182880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login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40280"/>
            <a:ext cx="2971800" cy="749808"/>
          </a:xfrm>
          <a:prstGeom prst="rect">
            <a:avLst/>
          </a:prstGeom>
          <a:solidFill>
            <a:srgbClr val="F3F9FA"/>
          </a:solidFill>
          <a:ln w="12700">
            <a:solidFill>
              <a:srgbClr val="E6F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85800" y="2350008"/>
            <a:ext cx="2743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 i="0">
                <a:solidFill>
                  <a:srgbClr val="0A5E66"/>
                </a:solidFill>
                <a:latin typeface="Consolas"/>
                <a:ea typeface="Consolas"/>
                <a:cs typeface="Consolas"/>
              </a:rPr>
              <a:t>index.html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11880" y="2240280"/>
            <a:ext cx="3977639" cy="749808"/>
          </a:xfrm>
          <a:prstGeom prst="rect">
            <a:avLst/>
          </a:prstGeom>
          <a:solidFill>
            <a:srgbClr val="F3F9FA"/>
          </a:solidFill>
          <a:ln w="12700">
            <a:solidFill>
              <a:srgbClr val="E6F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49040" y="2350008"/>
            <a:ext cx="3749039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หน้าแรก: การ์ดเลือก 2 บริการ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80960" y="2240280"/>
            <a:ext cx="3063240" cy="749808"/>
          </a:xfrm>
          <a:prstGeom prst="rect">
            <a:avLst/>
          </a:prstGeom>
          <a:solidFill>
            <a:srgbClr val="F3F9FA"/>
          </a:solidFill>
          <a:ln w="12700">
            <a:solidFill>
              <a:srgbClr val="E6F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818120" y="2350008"/>
            <a:ext cx="28346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จุดเริ่มต้นเดียว · ลิงก์เก่า (เช่น /?pentest) ส่งต่อไปหน้าวิเคราะห์ไฟล์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835640" y="2240280"/>
            <a:ext cx="777240" cy="749808"/>
          </a:xfrm>
          <a:prstGeom prst="rect">
            <a:avLst/>
          </a:prstGeom>
          <a:solidFill>
            <a:srgbClr val="F3F9FA"/>
          </a:solidFill>
          <a:ln w="12700">
            <a:solidFill>
              <a:srgbClr val="E6F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972800" y="2350008"/>
            <a:ext cx="5486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044952"/>
            <a:ext cx="2971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6F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85800" y="3154680"/>
            <a:ext cx="2743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 i="0">
                <a:solidFill>
                  <a:srgbClr val="0A5E66"/>
                </a:solidFill>
                <a:latin typeface="Consolas"/>
                <a:ea typeface="Consolas"/>
                <a:cs typeface="Consolas"/>
              </a:rPr>
              <a:t>analyze.html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11880" y="3044952"/>
            <a:ext cx="397763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6F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749040" y="3154680"/>
            <a:ext cx="3749039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วิเคราะห์ไฟล์ Log: นำเข้าไฟล์ → กราฟ ตาราง Real data โน้ต บันทึกรูป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80960" y="3044952"/>
            <a:ext cx="3063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6F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818120" y="3154680"/>
            <a:ext cx="28346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ตรวจปัญหาจากไฟล์ log ที่มีอยู่ ข้อมูลไม่ออกจากเครื่อง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835640" y="3044952"/>
            <a:ext cx="777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6F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0972800" y="3154680"/>
            <a:ext cx="5486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ไม่ต้อง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849624"/>
            <a:ext cx="2971800" cy="749808"/>
          </a:xfrm>
          <a:prstGeom prst="rect">
            <a:avLst/>
          </a:prstGeom>
          <a:solidFill>
            <a:srgbClr val="F3F9FA"/>
          </a:solidFill>
          <a:ln w="12700">
            <a:solidFill>
              <a:srgbClr val="E6F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85800" y="3959352"/>
            <a:ext cx="2743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 i="0">
                <a:solidFill>
                  <a:srgbClr val="0A5E66"/>
                </a:solidFill>
                <a:latin typeface="Consolas"/>
                <a:ea typeface="Consolas"/>
                <a:cs typeface="Consolas"/>
              </a:rPr>
              <a:t>analyze.html?device=Q003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11880" y="3849624"/>
            <a:ext cx="3977639" cy="749808"/>
          </a:xfrm>
          <a:prstGeom prst="rect">
            <a:avLst/>
          </a:prstGeom>
          <a:solidFill>
            <a:srgbClr val="F3F9FA"/>
          </a:solidFill>
          <a:ln w="12700">
            <a:solidFill>
              <a:srgbClr val="E6F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749040" y="3959352"/>
            <a:ext cx="3749039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กราฟเต็มของ Data Logger 1 เครื่อง ปรับปรุงเอง ช่วง 1–60 วัน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80960" y="3849624"/>
            <a:ext cx="3063240" cy="749808"/>
          </a:xfrm>
          <a:prstGeom prst="rect">
            <a:avLst/>
          </a:prstGeom>
          <a:solidFill>
            <a:srgbClr val="F3F9FA"/>
          </a:solidFill>
          <a:ln w="12700">
            <a:solidFill>
              <a:srgbClr val="E6F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818120" y="3959352"/>
            <a:ext cx="28346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ใช้หน้ากราฟเดิมทั้งหมด ไม่ต้องดาวน์โหลดไฟล์มาเปิดเอง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835640" y="3849624"/>
            <a:ext cx="777240" cy="749808"/>
          </a:xfrm>
          <a:prstGeom prst="rect">
            <a:avLst/>
          </a:prstGeom>
          <a:solidFill>
            <a:srgbClr val="F3F9FA"/>
          </a:solidFill>
          <a:ln w="12700">
            <a:solidFill>
              <a:srgbClr val="E6F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0972800" y="3959352"/>
            <a:ext cx="5486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F25C54"/>
                </a:solidFill>
                <a:latin typeface="Leelawadee UI"/>
                <a:ea typeface="Leelawadee UI"/>
                <a:cs typeface="Leelawadee UI"/>
              </a:rPr>
              <a:t>ต้อง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654296"/>
            <a:ext cx="2971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6F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85800" y="4764024"/>
            <a:ext cx="2743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 i="0">
                <a:solidFill>
                  <a:srgbClr val="0A5E66"/>
                </a:solidFill>
                <a:latin typeface="Consolas"/>
                <a:ea typeface="Consolas"/>
                <a:cs typeface="Consolas"/>
              </a:rPr>
              <a:t>monitor.html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11880" y="4654296"/>
            <a:ext cx="397763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6F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3749040" y="4764024"/>
            <a:ext cx="3749039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การ์ด Data Logger: สถานะ, กราฟย่อ 24 ชม., อุณหภูมิ, แผงควบคุม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80960" y="4654296"/>
            <a:ext cx="3063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6F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818120" y="4764024"/>
            <a:ext cx="28346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ดูทุกเครื่องในหน้าเดียว รู้ทันทีว่าเครื่องไหน Offline / มี error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835640" y="4654296"/>
            <a:ext cx="777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6F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10972800" y="4764024"/>
            <a:ext cx="5486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F25C54"/>
                </a:solidFill>
                <a:latin typeface="Leelawadee UI"/>
                <a:ea typeface="Leelawadee UI"/>
                <a:cs typeface="Leelawadee UI"/>
              </a:rPr>
              <a:t>ต้อง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458968"/>
            <a:ext cx="2971800" cy="749808"/>
          </a:xfrm>
          <a:prstGeom prst="rect">
            <a:avLst/>
          </a:prstGeom>
          <a:solidFill>
            <a:srgbClr val="F3F9FA"/>
          </a:solidFill>
          <a:ln w="12700">
            <a:solidFill>
              <a:srgbClr val="E6F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85800" y="5568696"/>
            <a:ext cx="2743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 i="0">
                <a:solidFill>
                  <a:srgbClr val="0A5E66"/>
                </a:solidFill>
                <a:latin typeface="Consolas"/>
                <a:ea typeface="Consolas"/>
                <a:cs typeface="Consolas"/>
              </a:rPr>
              <a:t>admin.html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11880" y="5458968"/>
            <a:ext cx="3977639" cy="749808"/>
          </a:xfrm>
          <a:prstGeom prst="rect">
            <a:avLst/>
          </a:prstGeom>
          <a:solidFill>
            <a:srgbClr val="F3F9FA"/>
          </a:solidFill>
          <a:ln w="12700">
            <a:solidFill>
              <a:srgbClr val="E6F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3749040" y="5568696"/>
            <a:ext cx="3749039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จัดการผู้ใช้: อนุมัติ / ปฏิเสธ / ถอนสิทธิ์ / ลบ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680960" y="5458968"/>
            <a:ext cx="3063240" cy="749808"/>
          </a:xfrm>
          <a:prstGeom prst="rect">
            <a:avLst/>
          </a:prstGeom>
          <a:solidFill>
            <a:srgbClr val="F3F9FA"/>
          </a:solidFill>
          <a:ln w="12700">
            <a:solidFill>
              <a:srgbClr val="E6F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7818120" y="5568696"/>
            <a:ext cx="28346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ให้แอดมินคนเดียวควบคุมว่าใครเห็นข้อมูลได้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835640" y="5458968"/>
            <a:ext cx="777240" cy="749808"/>
          </a:xfrm>
          <a:prstGeom prst="rect">
            <a:avLst/>
          </a:prstGeom>
          <a:solidFill>
            <a:srgbClr val="F3F9FA"/>
          </a:solidFill>
          <a:ln w="12700">
            <a:solidFill>
              <a:srgbClr val="E6F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10972800" y="5568696"/>
            <a:ext cx="5486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F25C54"/>
                </a:solidFill>
                <a:latin typeface="Leelawadee UI"/>
                <a:ea typeface="Leelawadee UI"/>
                <a:cs typeface="Leelawadee UI"/>
              </a:rPr>
              <a:t>แอดมิน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ทุกหน้าใช้หัวเว็บ / ท้ายเว็บ / ภาษา / โหมดสว่าง-มืด / time zone ร่วมกันจาก js/site.js — ห้ามก๊อปโค้ดแยกแต่ละหน้า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ภาพรวมการทำงาน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จากไฟล์ที่ผู้ใช้เลือก จนกราฟและตารางขึ้นจอ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03120"/>
            <a:ext cx="1965960" cy="2103120"/>
          </a:xfrm>
          <a:prstGeom prst="roundRect">
            <a:avLst>
              <a:gd name="adj" fmla="val 8000"/>
            </a:avLst>
          </a:prstGeom>
          <a:solidFill>
            <a:srgbClr val="E6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731520" y="2286000"/>
            <a:ext cx="457200" cy="457200"/>
          </a:xfrm>
          <a:prstGeom prst="ellipse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80360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ผู้ใช้เลือกไฟล์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37560"/>
            <a:ext cx="1600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.log .csv .xlsx
หรือลากมาวาง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60320" y="3017520"/>
            <a:ext cx="228599" cy="274320"/>
          </a:xfrm>
          <a:prstGeom prst="rightArrow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34640" y="2103120"/>
            <a:ext cx="1965960" cy="2103120"/>
          </a:xfrm>
          <a:prstGeom prst="roundRect">
            <a:avLst>
              <a:gd name="adj" fmla="val 8000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3017520" y="2286000"/>
            <a:ext cx="457200" cy="457200"/>
          </a:xfrm>
          <a:prstGeom prst="ellipse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880360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main.js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337560"/>
            <a:ext cx="1600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7FD1D8"/>
                </a:solidFill>
                <a:latin typeface="Leelawadee UI"/>
                <a:ea typeface="Leelawadee UI"/>
                <a:cs typeface="Leelawadee UI"/>
              </a:rPr>
              <a:t>loadFile()
ส่งไฟล์ให้ Worker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46320" y="3017520"/>
            <a:ext cx="228599" cy="274320"/>
          </a:xfrm>
          <a:prstGeom prst="rightArrow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20640" y="2103120"/>
            <a:ext cx="1965960" cy="2103120"/>
          </a:xfrm>
          <a:prstGeom prst="roundRect">
            <a:avLst>
              <a:gd name="adj" fmla="val 8000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5303520" y="2286000"/>
            <a:ext cx="457200" cy="457200"/>
          </a:xfrm>
          <a:prstGeom prst="ellipse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880360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parser.worker.js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3337560"/>
            <a:ext cx="1600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7FD1D8"/>
                </a:solidFill>
                <a:latin typeface="Leelawadee UI"/>
                <a:ea typeface="Leelawadee UI"/>
                <a:cs typeface="Leelawadee UI"/>
              </a:rPr>
              <a:t>+ sources.js
อ่านทีละแถว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132320" y="3017520"/>
            <a:ext cx="228599" cy="274320"/>
          </a:xfrm>
          <a:prstGeom prst="rightArrow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06640" y="2103120"/>
            <a:ext cx="1965960" cy="2103120"/>
          </a:xfrm>
          <a:prstGeom prst="roundRect">
            <a:avLst>
              <a:gd name="adj" fmla="val 8000"/>
            </a:avLst>
          </a:prstGeom>
          <a:solidFill>
            <a:srgbClr val="E6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7589519" y="2286000"/>
            <a:ext cx="457200" cy="457200"/>
          </a:xfrm>
          <a:prstGeom prst="ellipse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19" y="2880360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19" y="3337560"/>
            <a:ext cx="1600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typed array
ส่งกลับ main.js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418320" y="3017520"/>
            <a:ext cx="228599" cy="274320"/>
          </a:xfrm>
          <a:prstGeom prst="rightArrow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692640" y="2103120"/>
            <a:ext cx="1965960" cy="2103120"/>
          </a:xfrm>
          <a:prstGeom prst="roundRect">
            <a:avLst>
              <a:gd name="adj" fmla="val 8000"/>
            </a:avLst>
          </a:prstGeom>
          <a:solidFill>
            <a:srgbClr val="E6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9875519" y="2286000"/>
            <a:ext cx="457200" cy="457200"/>
          </a:xfrm>
          <a:prstGeom prst="ellipse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19" y="2880360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ตาราง + กราฟ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19" y="3337560"/>
            <a:ext cx="1600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buildItems()
renderStatsTable()
buildChart()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663440"/>
            <a:ext cx="11064240" cy="1417320"/>
          </a:xfrm>
          <a:prstGeom prst="roundRect">
            <a:avLst>
              <a:gd name="adj" fmla="val 8000"/>
            </a:avLst>
          </a:prstGeom>
          <a:solidFill>
            <a:srgbClr val="FD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22960" y="48463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 i="0">
                <a:solidFill>
                  <a:srgbClr val="F25C54"/>
                </a:solidFill>
                <a:latin typeface="Leelawadee UI"/>
                <a:ea typeface="Leelawadee UI"/>
                <a:cs typeface="Leelawadee UI"/>
              </a:rPr>
              <a:t>ทำไมต้อง Web Worker?  </a:t>
            </a:r>
            <a:r>
              <a:rPr sz="150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อ่านไฟล์ 80–100 MB ในหน้าเว็บตรงๆ จะค้างหลายวินาที — Worker อ่านเบื้องหลัง หน้าเว็บยังกด/เลื่อนได้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 i="0">
                <a:solidFill>
                  <a:srgbClr val="F25C54"/>
                </a:solidFill>
                <a:latin typeface="Leelawadee UI"/>
                <a:ea typeface="Leelawadee UI"/>
                <a:cs typeface="Leelawadee UI"/>
              </a:rPr>
              <a:t>หลังจากนั้น  </a:t>
            </a:r>
            <a:r>
              <a:rPr sz="150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ผู้ใช้ zoom / เลือกช่วง / ชี้เมาส์ → chart.js แจ้ง main.js → อัปเดต Min/Max/Avg และค่า ณ เคอร์เซอร์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ไฟล์หลักของการวิเคราะห์ไฟล์ 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ค่าคงที่ทั้งหมดอยู่ที่ logformat.js ที่เดียว — การเพิ่มข้อมูลส่วนใหญ่แก้แค่ไฟล์นี้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5440680" cy="932688"/>
          </a:xfrm>
          <a:prstGeom prst="roundRect">
            <a:avLst>
              <a:gd name="adj" fmla="val 8000"/>
            </a:avLst>
          </a:prstGeom>
          <a:solidFill>
            <a:srgbClr val="FD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22959" y="1911095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F25C54"/>
                </a:solidFill>
                <a:latin typeface="Consolas"/>
                <a:ea typeface="Consolas"/>
                <a:cs typeface="Consolas"/>
              </a:rPr>
              <a:t>js/logformat.js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258568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ค่าคงที่: ชื่อคอลัมน์ SENSORS, STATUS_ITEMS, สี, ตำแหน่ง Y, parse วันที่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783080"/>
            <a:ext cx="5440680" cy="932688"/>
          </a:xfrm>
          <a:prstGeom prst="roundRect">
            <a:avLst>
              <a:gd name="adj" fmla="val 8000"/>
            </a:avLst>
          </a:prstGeom>
          <a:solidFill>
            <a:srgbClr val="F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46520" y="1911095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0A5E66"/>
                </a:solidFill>
                <a:latin typeface="Consolas"/>
                <a:ea typeface="Consolas"/>
                <a:cs typeface="Consolas"/>
              </a:rPr>
              <a:t>js/main.js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258568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จุดเริ่มต้นหน้า analyze: ผูก UI, เรียก Worker, ตาราง/กราฟ, time zone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80360"/>
            <a:ext cx="5440680" cy="932688"/>
          </a:xfrm>
          <a:prstGeom prst="roundRect">
            <a:avLst>
              <a:gd name="adj" fmla="val 8000"/>
            </a:avLst>
          </a:prstGeom>
          <a:solidFill>
            <a:srgbClr val="F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59" y="3008376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0A5E66"/>
                </a:solidFill>
                <a:latin typeface="Consolas"/>
                <a:ea typeface="Consolas"/>
                <a:cs typeface="Consolas"/>
              </a:rPr>
              <a:t>js/parser.worker.js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355848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อ่านไฟล์ทีละแถว หาคอลัมน์จากชื่อ ตรวจแถวเสีย (Web Worker)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880360"/>
            <a:ext cx="5440680" cy="932688"/>
          </a:xfrm>
          <a:prstGeom prst="roundRect">
            <a:avLst>
              <a:gd name="adj" fmla="val 8000"/>
            </a:avLst>
          </a:prstGeom>
          <a:solidFill>
            <a:srgbClr val="F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46520" y="3008376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0A5E66"/>
                </a:solidFill>
                <a:latin typeface="Consolas"/>
                <a:ea typeface="Consolas"/>
                <a:cs typeface="Consolas"/>
              </a:rPr>
              <a:t>js/sources.js · js/rawdata.js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355848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แปลงไฟล์เป็นแถว (xlsx อ่านเอง) · หน้าต่าง Real data + Export CSV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77639"/>
            <a:ext cx="5440680" cy="932688"/>
          </a:xfrm>
          <a:prstGeom prst="roundRect">
            <a:avLst>
              <a:gd name="adj" fmla="val 8000"/>
            </a:avLst>
          </a:prstGeom>
          <a:solidFill>
            <a:srgbClr val="F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2959" y="4105655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0A5E66"/>
                </a:solidFill>
                <a:latin typeface="Consolas"/>
                <a:ea typeface="Consolas"/>
                <a:cs typeface="Consolas"/>
              </a:rPr>
              <a:t>js/chart.js · js/annotate.js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4453127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กราฟ uPlot + เมาส์ / นิ้ว / ปากกา · วาดโน้ตบนกราฟ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977639"/>
            <a:ext cx="5440680" cy="932688"/>
          </a:xfrm>
          <a:prstGeom prst="roundRect">
            <a:avLst>
              <a:gd name="adj" fmla="val 8000"/>
            </a:avLst>
          </a:prstGeom>
          <a:solidFill>
            <a:srgbClr val="F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46520" y="4105655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0A5E66"/>
                </a:solidFill>
                <a:latin typeface="Consolas"/>
                <a:ea typeface="Consolas"/>
                <a:cs typeface="Consolas"/>
              </a:rPr>
              <a:t>js/stats.js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453127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หาช่วง index จากเวลา + คำนวณ Min / Max / Avg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074920"/>
            <a:ext cx="5440680" cy="932688"/>
          </a:xfrm>
          <a:prstGeom prst="roundRect">
            <a:avLst>
              <a:gd name="adj" fmla="val 8000"/>
            </a:avLst>
          </a:prstGeom>
          <a:solidFill>
            <a:srgbClr val="F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22959" y="5202936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0A5E66"/>
                </a:solidFill>
                <a:latin typeface="Consolas"/>
                <a:ea typeface="Consolas"/>
                <a:cs typeface="Consolas"/>
              </a:rPr>
              <a:t>js/i18n.js · js/theme.js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5550408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สลับภาษา TH/EN · สลับโหมดสว่าง/มืด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5074920"/>
            <a:ext cx="5440680" cy="932688"/>
          </a:xfrm>
          <a:prstGeom prst="roundRect">
            <a:avLst>
              <a:gd name="adj" fmla="val 8000"/>
            </a:avLst>
          </a:prstGeom>
          <a:solidFill>
            <a:srgbClr val="F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46520" y="5202936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0A5E66"/>
                </a:solidFill>
                <a:latin typeface="Consolas"/>
                <a:ea typeface="Consolas"/>
                <a:cs typeface="Consolas"/>
              </a:rPr>
              <a:t>tools/make-sample.py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550408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สร้างไฟล์ตัวอย่าง (ข้อมูลปลอม) + ไฟล์เสียสำหรับทดสอบ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ข้างใน Worker: อ่านไฟล์อย่างไร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parser.worker.js — ทำทีละแถว ไม่โหลดทั้งไฟล์เข้าหน่วยความจำ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810512"/>
            <a:ext cx="530352" cy="530352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755648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แถวแรก = metadata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130552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MachineINIFile = RF55ID18.ini → แสดงเป็น Model / INI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706624"/>
            <a:ext cx="530352" cy="530352"/>
          </a:xfrm>
          <a:prstGeom prst="ellipse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65176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header → หาคอลัมน์จากชื่อ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3026664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buildColumnMap() — ห้าม hard-code ตำแหน่ง เพราะ firmware ต่างรุ่นคอลัมน์ไม่เท่ากัน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602736"/>
            <a:ext cx="530352" cy="530352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547872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ตัดสินรูปแบบวันที่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922776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7/24/2026 2:53 PM หรือ 16/09/2026 00:00 — ดูตัวเลขที่เกิน 12 ว่าอันไหนคือวัน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498848"/>
            <a:ext cx="530352" cy="530352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443983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ตรวจทีละแถว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81888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คอลัมน์ขาด / วันที่ผิด / เวลาย้อน → ข้ามแถว นับจำนวน แจ้งเลขบรรทัด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5394960"/>
            <a:ext cx="530352" cy="530352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5340096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เก็บค่า + หา sampling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71500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ค่า ×0.1 °C, *.Err ≠ 0 ไม่วาด · ห่างเกิน 3 × sampling = ข้อมูลขาด ตัดเส้น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รายการ 4 ชนิด (kind)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1 รายการ = 1 แถวในตาราง — ชนิดกำหนดว่าบนกราฟหน้าตาเป็นอย่างไร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2606040" cy="4297680"/>
          </a:xfrm>
          <a:prstGeom prst="roundRect">
            <a:avLst>
              <a:gd name="adj" fmla="val 8000"/>
            </a:avLst>
          </a:prstGeom>
          <a:solidFill>
            <a:srgbClr val="F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" name="Connector 4"/>
          <p:cNvCxnSpPr/>
          <p:nvPr/>
        </p:nvCxnSpPr>
        <p:spPr>
          <a:xfrm flipV="1">
            <a:off x="822959" y="2377440"/>
            <a:ext cx="457201" cy="32004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80160" y="2377440"/>
            <a:ext cx="457200" cy="18288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1737360" y="2240280"/>
            <a:ext cx="457200" cy="32004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94560" y="2240280"/>
            <a:ext cx="457200" cy="2286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59" y="301752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1" i="0">
                <a:solidFill>
                  <a:srgbClr val="F25C54"/>
                </a:solidFill>
                <a:latin typeface="Consolas"/>
                <a:ea typeface="Consolas"/>
                <a:cs typeface="Consolas"/>
              </a:rPr>
              <a:t>sensor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520440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เส้นอุณหภูมิ °C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434340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Freezer sensor
Refrigerator sensor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54406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0A5E66"/>
                </a:solidFill>
                <a:latin typeface="Consolas"/>
                <a:ea typeface="Consolas"/>
                <a:cs typeface="Consolas"/>
              </a:rPr>
              <a:t>SENSORS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4992" y="1783080"/>
            <a:ext cx="2606040" cy="4297680"/>
          </a:xfrm>
          <a:prstGeom prst="roundRect">
            <a:avLst>
              <a:gd name="adj" fmla="val 8000"/>
            </a:avLst>
          </a:prstGeom>
          <a:solidFill>
            <a:srgbClr val="F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4" name="Connector 13"/>
          <p:cNvCxnSpPr/>
          <p:nvPr/>
        </p:nvCxnSpPr>
        <p:spPr>
          <a:xfrm>
            <a:off x="3639312" y="2697480"/>
            <a:ext cx="548640" cy="0"/>
          </a:xfrm>
          <a:prstGeom prst="line">
            <a:avLst/>
          </a:prstGeom>
          <a:ln w="38100">
            <a:solidFill>
              <a:srgbClr val="FF0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187952" y="2286000"/>
            <a:ext cx="0" cy="411480"/>
          </a:xfrm>
          <a:prstGeom prst="line">
            <a:avLst/>
          </a:prstGeom>
          <a:ln w="38100">
            <a:solidFill>
              <a:srgbClr val="FF0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187952" y="2286000"/>
            <a:ext cx="640080" cy="0"/>
          </a:xfrm>
          <a:prstGeom prst="line">
            <a:avLst/>
          </a:prstGeom>
          <a:ln w="38100">
            <a:solidFill>
              <a:srgbClr val="FF0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828032" y="2286000"/>
            <a:ext cx="0" cy="411480"/>
          </a:xfrm>
          <a:prstGeom prst="line">
            <a:avLst/>
          </a:prstGeom>
          <a:ln w="38100">
            <a:solidFill>
              <a:srgbClr val="FF0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828032" y="2697480"/>
            <a:ext cx="640080" cy="0"/>
          </a:xfrm>
          <a:prstGeom prst="line">
            <a:avLst/>
          </a:prstGeom>
          <a:ln w="38100">
            <a:solidFill>
              <a:srgbClr val="FF0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639312" y="301752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1" i="0">
                <a:solidFill>
                  <a:srgbClr val="F25C54"/>
                </a:solidFill>
                <a:latin typeface="Consolas"/>
                <a:ea typeface="Consolas"/>
                <a:cs typeface="Consolas"/>
              </a:rPr>
              <a:t>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9312" y="3520440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เส้นขั้นบันได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9312" y="434340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Compressor, Power
Heater, Fan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9312" y="54406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0A5E66"/>
                </a:solidFill>
                <a:latin typeface="Consolas"/>
                <a:ea typeface="Consolas"/>
                <a:cs typeface="Consolas"/>
              </a:rPr>
              <a:t>STATUS_ITEMS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81344" y="1783080"/>
            <a:ext cx="2606040" cy="4297680"/>
          </a:xfrm>
          <a:prstGeom prst="roundRect">
            <a:avLst>
              <a:gd name="adj" fmla="val 8000"/>
            </a:avLst>
          </a:prstGeom>
          <a:solidFill>
            <a:srgbClr val="F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6501383" y="2377440"/>
            <a:ext cx="201168" cy="201168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004303" y="2377440"/>
            <a:ext cx="201168" cy="201168"/>
          </a:xfrm>
          <a:prstGeom prst="ellipse">
            <a:avLst/>
          </a:prstGeom>
          <a:solidFill>
            <a:srgbClr val="005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507223" y="2377440"/>
            <a:ext cx="201168" cy="201168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10144" y="2377440"/>
            <a:ext cx="201168" cy="201168"/>
          </a:xfrm>
          <a:prstGeom prst="ellipse">
            <a:avLst/>
          </a:prstGeom>
          <a:solidFill>
            <a:srgbClr val="005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55664" y="301752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1" i="0">
                <a:solidFill>
                  <a:srgbClr val="F25C54"/>
                </a:solidFill>
                <a:latin typeface="Consolas"/>
                <a:ea typeface="Consolas"/>
                <a:cs typeface="Consolas"/>
              </a:rPr>
              <a:t>marker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55664" y="3520440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สัญลักษณ์เล็กๆ ที่ Y คงที่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5664" y="434340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Software change
error, Ice making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55664" y="54406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0A5E66"/>
                </a:solidFill>
                <a:latin typeface="Consolas"/>
                <a:ea typeface="Consolas"/>
                <a:cs typeface="Consolas"/>
              </a:rPr>
              <a:t>STATUS_ITEMS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97696" y="1783080"/>
            <a:ext cx="2606040" cy="4297680"/>
          </a:xfrm>
          <a:prstGeom prst="roundRect">
            <a:avLst>
              <a:gd name="adj" fmla="val 8000"/>
            </a:avLst>
          </a:prstGeom>
          <a:solidFill>
            <a:srgbClr val="F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272016" y="219456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 i="0">
                <a:solidFill>
                  <a:srgbClr val="0F1B2D"/>
                </a:solidFill>
                <a:latin typeface="Consolas"/>
                <a:ea typeface="Consolas"/>
                <a:cs typeface="Consolas"/>
              </a:rPr>
              <a:t>63651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72016" y="301752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1" i="0">
                <a:solidFill>
                  <a:srgbClr val="F25C54"/>
                </a:solidFill>
                <a:latin typeface="Consolas"/>
                <a:ea typeface="Consolas"/>
                <a:cs typeface="Consolas"/>
              </a:rPr>
              <a:t>value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72016" y="3520440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ไม่มีในกราฟ
แสดงตัวเลขในตาราง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72016" y="434340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Door open count
Freezer set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72016" y="54406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0A5E66"/>
                </a:solidFill>
                <a:latin typeface="Consolas"/>
                <a:ea typeface="Consolas"/>
                <a:cs typeface="Consolas"/>
              </a:rPr>
              <a:t>STATUS_ITEMS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" y="2103120"/>
            <a:ext cx="914400" cy="914400"/>
          </a:xfrm>
          <a:prstGeom prst="ellipse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4612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ติดตามสถานะ Data Logger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7FD1D8"/>
                </a:solidFill>
                <a:latin typeface="Leelawadee UI"/>
                <a:ea typeface="Leelawadee UI"/>
                <a:cs typeface="Leelawadee UI"/>
              </a:rPr>
              <a:t>ข้อมูลเดินทางอย่างไร · ไฟล์แต่ละไฟล์ทำอะไร · ระบบสมาชิก · ค่าลับอยู่ที่ไหน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ข้อมูลเดินทางอย่างไร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จาก ESP32 ที่ตู้ จนขึ้นการ์ดและกราฟบนเว็บ — ทุกส่วนใช้แบบฟรี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1965960" cy="2971800"/>
          </a:xfrm>
          <a:prstGeom prst="roundRect">
            <a:avLst>
              <a:gd name="adj" fmla="val 8000"/>
            </a:avLst>
          </a:prstGeom>
          <a:solidFill>
            <a:srgbClr val="E6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731520" y="1920240"/>
            <a:ext cx="457200" cy="457200"/>
          </a:xfrm>
          <a:prstGeom prst="ellipse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87168"/>
            <a:ext cx="1600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ESP32
Data Logger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1600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อ่าน UART ของตู้
เขียน CSV ทุก 10 นาที
ไฟล์ใหม่ทุกวัน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15968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1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ต้นทางข้อมูล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60320" y="3108960"/>
            <a:ext cx="228599" cy="274320"/>
          </a:xfrm>
          <a:prstGeom prst="rightArrow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34640" y="1783080"/>
            <a:ext cx="1965960" cy="2971800"/>
          </a:xfrm>
          <a:prstGeom prst="roundRect">
            <a:avLst>
              <a:gd name="adj" fmla="val 8000"/>
            </a:avLst>
          </a:prstGeom>
          <a:solidFill>
            <a:srgbClr val="E6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3017520" y="1920240"/>
            <a:ext cx="457200" cy="457200"/>
          </a:xfrm>
          <a:prstGeom prst="ellipse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487168"/>
            <a:ext cx="1600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Google Drive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3246120"/>
            <a:ext cx="1600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เก็บไฟล์
uart_log_DataLogger_
&lt;device&gt;_&lt;วันที่&gt;.csv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4315968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1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โฟลเดอร์ private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46320" y="3108960"/>
            <a:ext cx="228599" cy="274320"/>
          </a:xfrm>
          <a:prstGeom prst="rightArrow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120640" y="1783080"/>
            <a:ext cx="1965960" cy="2971800"/>
          </a:xfrm>
          <a:prstGeom prst="roundRect">
            <a:avLst>
              <a:gd name="adj" fmla="val 8000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5303520" y="1920240"/>
            <a:ext cx="457200" cy="457200"/>
          </a:xfrm>
          <a:prstGeom prst="ellipse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2487168"/>
            <a:ext cx="1600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Apps Script
Code.gs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3246120"/>
            <a:ext cx="1600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7FD1D8"/>
                </a:solidFill>
                <a:latin typeface="Leelawadee UI"/>
                <a:ea typeface="Leelawadee UI"/>
                <a:cs typeface="Leelawadee UI"/>
              </a:rPr>
              <a:t>อ่านรายการไฟล์ 62 วัน
ส่งเนื้อไฟล์ + ส่งอีเมล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4315968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1">
                <a:solidFill>
                  <a:srgbClr val="7FD1D8"/>
                </a:solidFill>
                <a:latin typeface="Leelawadee UI"/>
                <a:ea typeface="Leelawadee UI"/>
                <a:cs typeface="Leelawadee UI"/>
              </a:rPr>
              <a:t>อ่าน Drive ด้วยสิทธิ์บัญชีเรา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132320" y="3108960"/>
            <a:ext cx="228599" cy="274320"/>
          </a:xfrm>
          <a:prstGeom prst="rightArrow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06640" y="1783080"/>
            <a:ext cx="1965960" cy="2971800"/>
          </a:xfrm>
          <a:prstGeom prst="roundRect">
            <a:avLst>
              <a:gd name="adj" fmla="val 8000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7589519" y="1920240"/>
            <a:ext cx="457200" cy="457200"/>
          </a:xfrm>
          <a:prstGeom prst="ellipse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19" y="2487168"/>
            <a:ext cx="1600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Cloudflare
Worker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19" y="3246120"/>
            <a:ext cx="1600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7FD1D8"/>
                </a:solidFill>
                <a:latin typeface="Leelawadee UI"/>
                <a:ea typeface="Leelawadee UI"/>
                <a:cs typeface="Leelawadee UI"/>
              </a:rPr>
              <a:t>ตรวจ login ทุกคำขอ
รายชื่อผู้ใช้ใน KV
จำไฟล์เก่าไว้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19" y="4315968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1">
                <a:solidFill>
                  <a:srgbClr val="7FD1D8"/>
                </a:solidFill>
                <a:latin typeface="Leelawadee UI"/>
                <a:ea typeface="Leelawadee UI"/>
                <a:cs typeface="Leelawadee UI"/>
              </a:rPr>
              <a:t>ถือค่าลับแทนเว็บ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418320" y="3108960"/>
            <a:ext cx="228599" cy="274320"/>
          </a:xfrm>
          <a:prstGeom prst="rightArrow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692640" y="1783080"/>
            <a:ext cx="1965960" cy="2971800"/>
          </a:xfrm>
          <a:prstGeom prst="roundRect">
            <a:avLst>
              <a:gd name="adj" fmla="val 8000"/>
            </a:avLst>
          </a:prstGeom>
          <a:solidFill>
            <a:srgbClr val="E6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9875519" y="1920240"/>
            <a:ext cx="457200" cy="457200"/>
          </a:xfrm>
          <a:prstGeom prst="ellipse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19" y="2487168"/>
            <a:ext cx="1600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เว็บ
monitor / analyze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19" y="3246120"/>
            <a:ext cx="1600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ถอดรหัส 228 byte
ใน Worker ของ browser
→ การ์ด + กราฟ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19" y="4315968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1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ใช้ parser / กราฟเดิม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4983480"/>
            <a:ext cx="11064240" cy="1188720"/>
          </a:xfrm>
          <a:prstGeom prst="roundRect">
            <a:avLst>
              <a:gd name="adj" fmla="val 8000"/>
            </a:avLst>
          </a:prstGeom>
          <a:solidFill>
            <a:srgbClr val="FD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22960" y="5120640"/>
            <a:ext cx="105156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1" i="0">
                <a:solidFill>
                  <a:srgbClr val="F25C54"/>
                </a:solidFill>
                <a:latin typeface="Leelawadee UI"/>
                <a:ea typeface="Leelawadee UI"/>
                <a:cs typeface="Leelawadee UI"/>
              </a:rPr>
              <a:t>ทำไมต้องมี Worker?  </a:t>
            </a:r>
            <a:r>
              <a:rPr sz="135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repo เป็น Public — รหัสลับใส่ในเว็บไม่ได้ Worker ถือรหัสแทน + ตรวจว่าผู้ใช้ได้รับอนุมัติ + เปิด CORS ให้เว็บเรา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1" i="0">
                <a:solidFill>
                  <a:srgbClr val="F25C54"/>
                </a:solidFill>
                <a:latin typeface="Leelawadee UI"/>
                <a:ea typeface="Leelawadee UI"/>
                <a:cs typeface="Leelawadee UI"/>
              </a:rPr>
              <a:t>ทำไมใช้ Apps Script?  </a:t>
            </a:r>
            <a:r>
              <a:rPr sz="135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อ่าน Drive ด้วยสิทธิ์บัญชีเราได้เลย ไม่ต้องทำโฟลเดอร์ public และใช้ MailApp ส่งรหัส OTP ได้ฟรี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ไฟล์หน้าเว็บที่เพิ่มใน v2.0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หน้าที่ · ทำเพื่ออะไร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5440680" cy="822960"/>
          </a:xfrm>
          <a:prstGeom prst="roundRect">
            <a:avLst>
              <a:gd name="adj" fmla="val 8000"/>
            </a:avLst>
          </a:prstGeom>
          <a:solidFill>
            <a:srgbClr val="F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176479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 i="0">
                <a:solidFill>
                  <a:srgbClr val="0A5E66"/>
                </a:solidFill>
                <a:latin typeface="Consolas"/>
                <a:ea typeface="Consolas"/>
                <a:cs typeface="Consolas"/>
              </a:rPr>
              <a:t>js/site.js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3911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ส่วนที่ทุกหน้าใช้: เวอร์ชัน (APP_VERSION), ภาษา, โหมดมืด, นาฬิกา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58568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1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→ แก้ที่เดียวมีผลทุกหน้า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91640"/>
            <a:ext cx="5440680" cy="822960"/>
          </a:xfrm>
          <a:prstGeom prst="roundRect">
            <a:avLst>
              <a:gd name="adj" fmla="val 8000"/>
            </a:avLst>
          </a:prstGeom>
          <a:solidFill>
            <a:srgbClr val="FD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0" y="176479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 i="0">
                <a:solidFill>
                  <a:srgbClr val="0A5E66"/>
                </a:solidFill>
                <a:latin typeface="Consolas"/>
                <a:ea typeface="Consolas"/>
                <a:cs typeface="Consolas"/>
              </a:rPr>
              <a:t>js/espdecoder.js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3911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ตาราง 187 ฟิลด์ + ถอด frame 228 byte เป็นค่า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58568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1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→ เปิด CSV ดิบจาก ESP32 ได้เหมือนไฟล์ .log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06040"/>
            <a:ext cx="5440680" cy="822960"/>
          </a:xfrm>
          <a:prstGeom prst="roundRect">
            <a:avLst>
              <a:gd name="adj" fmla="val 8000"/>
            </a:avLst>
          </a:prstGeom>
          <a:solidFill>
            <a:srgbClr val="F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77240" y="267919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 i="0">
                <a:solidFill>
                  <a:srgbClr val="0A5E66"/>
                </a:solidFill>
                <a:latin typeface="Consolas"/>
                <a:ea typeface="Consolas"/>
                <a:cs typeface="Consolas"/>
              </a:rPr>
              <a:t>js/config.js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95351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WORKER_URL, ปรับปรุงทุก 1 นาที, Offline 25 นาที, ช่วงวัน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172968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1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→ รวมค่าตั้งของ Monitoring ไว้ที่เดียว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606040"/>
            <a:ext cx="5440680" cy="822960"/>
          </a:xfrm>
          <a:prstGeom prst="roundRect">
            <a:avLst>
              <a:gd name="adj" fmla="val 8000"/>
            </a:avLst>
          </a:prstGeom>
          <a:solidFill>
            <a:srgbClr val="F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00800" y="267919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 i="0">
                <a:solidFill>
                  <a:srgbClr val="0A5E66"/>
                </a:solidFill>
                <a:latin typeface="Consolas"/>
                <a:ea typeface="Consolas"/>
                <a:cs typeface="Consolas"/>
              </a:rPr>
              <a:t>js/monitor-api.js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95351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ดึงรายการเครื่อง / ไฟล์, จำไฟล์, สถานะ 3 แบบ, ข้อมูลจำลอง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172968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1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→ จุดเดียวที่คุยเรื่องข้อมูล Data Logger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520440"/>
            <a:ext cx="5440680" cy="822960"/>
          </a:xfrm>
          <a:prstGeom prst="roundRect">
            <a:avLst>
              <a:gd name="adj" fmla="val 8000"/>
            </a:avLst>
          </a:prstGeom>
          <a:solidFill>
            <a:srgbClr val="FD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77240" y="359359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 i="0">
                <a:solidFill>
                  <a:srgbClr val="0A5E66"/>
                </a:solidFill>
                <a:latin typeface="Consolas"/>
                <a:ea typeface="Consolas"/>
                <a:cs typeface="Consolas"/>
              </a:rPr>
              <a:t>js/auth.js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86791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คุยกับ Worker: ขอรหัส, ยืนยัน, ขอสิทธิ์, API แอดมิน, token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087368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1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→ แนบ token อัตโนมัติทุกคำขอ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520440"/>
            <a:ext cx="5440680" cy="822960"/>
          </a:xfrm>
          <a:prstGeom prst="roundRect">
            <a:avLst>
              <a:gd name="adj" fmla="val 8000"/>
            </a:avLst>
          </a:prstGeom>
          <a:solidFill>
            <a:srgbClr val="F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00800" y="359359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 i="0">
                <a:solidFill>
                  <a:srgbClr val="0A5E66"/>
                </a:solidFill>
                <a:latin typeface="Consolas"/>
                <a:ea typeface="Consolas"/>
                <a:cs typeface="Consolas"/>
              </a:rPr>
              <a:t>js/login-ui.js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86791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หน้าจอเข้าสู่ระบบ / ขอสิทธิ์ / รออนุมัติ + แถบผู้ใช้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087368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1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→ ทุกหน้าที่ต้อง login ใช้ตัวเดียวกัน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434840"/>
            <a:ext cx="5440680" cy="822960"/>
          </a:xfrm>
          <a:prstGeom prst="roundRect">
            <a:avLst>
              <a:gd name="adj" fmla="val 8000"/>
            </a:avLst>
          </a:prstGeom>
          <a:solidFill>
            <a:srgbClr val="F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7240" y="450799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 i="0">
                <a:solidFill>
                  <a:srgbClr val="0A5E66"/>
                </a:solidFill>
                <a:latin typeface="Consolas"/>
                <a:ea typeface="Consolas"/>
                <a:cs typeface="Consolas"/>
              </a:rPr>
              <a:t>js/monitor.js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78231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การ์ด Data Logger + กราฟย่อ + ค้นหา / กรอง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001768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1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→ ภาพรวมทุกเครื่องในหน้าเดียว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4434840"/>
            <a:ext cx="5440680" cy="822960"/>
          </a:xfrm>
          <a:prstGeom prst="roundRect">
            <a:avLst>
              <a:gd name="adj" fmla="val 8000"/>
            </a:avLst>
          </a:prstGeom>
          <a:solidFill>
            <a:srgbClr val="F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0" y="450799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 i="0">
                <a:solidFill>
                  <a:srgbClr val="0A5E66"/>
                </a:solidFill>
                <a:latin typeface="Consolas"/>
                <a:ea typeface="Consolas"/>
                <a:cs typeface="Consolas"/>
              </a:rPr>
              <a:t>js/live.js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78231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analyze.html?device=: โหลดไฟล์ช่วงวัน → loadFile(keepView)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001768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1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→ กราฟเต็มที่ปรับปรุงเองโดยคงซูม / โน้ต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349240"/>
            <a:ext cx="5440680" cy="822960"/>
          </a:xfrm>
          <a:prstGeom prst="roundRect">
            <a:avLst>
              <a:gd name="adj" fmla="val 8000"/>
            </a:avLst>
          </a:prstGeom>
          <a:solidFill>
            <a:srgbClr val="F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77240" y="542239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 i="0">
                <a:solidFill>
                  <a:srgbClr val="0A5E66"/>
                </a:solidFill>
                <a:latin typeface="Consolas"/>
                <a:ea typeface="Consolas"/>
                <a:cs typeface="Consolas"/>
              </a:rPr>
              <a:t>js/admin.js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69671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แท็บสถานะผู้ใช้ + ปุ่มอนุมัติ / ปฏิเสธ / ถอนสิทธิ์ / ลบ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916168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1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→ แอดมินจัดการสิทธิ์ได้จากหน้าเว็บ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72200" y="5349240"/>
            <a:ext cx="5440680" cy="822960"/>
          </a:xfrm>
          <a:prstGeom prst="roundRect">
            <a:avLst>
              <a:gd name="adj" fmla="val 8000"/>
            </a:avLst>
          </a:prstGeom>
          <a:solidFill>
            <a:srgbClr val="F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400800" y="542239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 i="0">
                <a:solidFill>
                  <a:srgbClr val="0A5E66"/>
                </a:solidFill>
                <a:latin typeface="Consolas"/>
                <a:ea typeface="Consolas"/>
                <a:cs typeface="Consolas"/>
              </a:rPr>
              <a:t>tools/make-esp-sample.py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569671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สร้าง CSV ดิบปลอม (DEMO01) จากข้อมูลตัวอย่าง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5916168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1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→ ทดสอบตัวถอดรหัส + โหมด ?demo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ถอดรหัส CSV ดิบจาก ESP32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js/espdecoder.js + espAdapter() ใน parser.worker.js — เปิดในหน้าวิเคราะห์ไฟล์ Log ได้ด้วย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11064240" cy="1097280"/>
          </a:xfrm>
          <a:prstGeom prst="roundRect">
            <a:avLst>
              <a:gd name="adj" fmla="val 8000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10607040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7FD1D8"/>
                </a:solidFill>
                <a:latin typeface="Consolas"/>
                <a:ea typeface="Consolas"/>
                <a:cs typeface="Consolas"/>
              </a:rPr>
              <a:t>timestamp,raw_hex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2026-07-22 00:00:06,</a:t>
            </a:r>
            <a:r>
              <a:rPr sz="1400" b="0" i="0">
                <a:solidFill>
                  <a:srgbClr val="FFC87A"/>
                </a:solidFill>
                <a:latin typeface="Consolas"/>
                <a:ea typeface="Consolas"/>
                <a:cs typeface="Consolas"/>
              </a:rPr>
              <a:t>3D 00 36 01 1D 0C 62 0E 00 06 FA …</a:t>
            </a:r>
            <a:r>
              <a:rPr sz="1400" b="0" i="0">
                <a:solidFill>
                  <a:srgbClr val="8B98A9"/>
                </a:solidFill>
                <a:latin typeface="Consolas"/>
                <a:ea typeface="Consolas"/>
                <a:cs typeface="Consolas"/>
              </a:rPr>
              <a:t>  (228 byte)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F25C54"/>
                </a:solidFill>
                <a:latin typeface="Consolas"/>
                <a:ea typeface="Consolas"/>
                <a:cs typeface="Consolas"/>
              </a:rPr>
              <a:t>u8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30175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1B2A3A"/>
                </a:solidFill>
                <a:latin typeface="Consolas"/>
                <a:ea typeface="Consolas"/>
                <a:cs typeface="Consolas"/>
              </a:rPr>
              <a:t>b[o]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0175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สถานะ, enum, timer 8 bit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93008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F25C54"/>
                </a:solidFill>
                <a:latin typeface="Consolas"/>
                <a:ea typeface="Consolas"/>
                <a:cs typeface="Consolas"/>
              </a:rPr>
              <a:t>s8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493008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1B2A3A"/>
                </a:solidFill>
                <a:latin typeface="Consolas"/>
                <a:ea typeface="Consolas"/>
                <a:cs typeface="Consolas"/>
              </a:rPr>
              <a:t>int8(b[o])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349300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Cabin[n].display มีเครื่องหมาย (234 → −22)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968496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F25C54"/>
                </a:solidFill>
                <a:latin typeface="Consolas"/>
                <a:ea typeface="Consolas"/>
                <a:cs typeface="Consolas"/>
              </a:rPr>
              <a:t>u16le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968496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1B2A3A"/>
                </a:solidFill>
                <a:latin typeface="Consolas"/>
                <a:ea typeface="Consolas"/>
                <a:cs typeface="Consolas"/>
              </a:rPr>
              <a:t>b[o] + b[o+1]×256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3968496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timer 16 bit, fan, flap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43983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F25C54"/>
                </a:solidFill>
                <a:latin typeface="Consolas"/>
                <a:ea typeface="Consolas"/>
                <a:cs typeface="Consolas"/>
              </a:rPr>
              <a:t>s16be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443983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1B2A3A"/>
                </a:solidFill>
                <a:latin typeface="Consolas"/>
                <a:ea typeface="Consolas"/>
                <a:cs typeface="Consolas"/>
              </a:rPr>
              <a:t>int16(b[o]×256 + b[o+1])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4443983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อุณหภูมิ (ค่าดิบ ไม่หาร)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919472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F25C54"/>
                </a:solidFill>
                <a:latin typeface="Consolas"/>
                <a:ea typeface="Consolas"/>
                <a:cs typeface="Consolas"/>
              </a:rPr>
              <a:t>bit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91947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1B2A3A"/>
                </a:solidFill>
                <a:latin typeface="Consolas"/>
                <a:ea typeface="Consolas"/>
                <a:cs typeface="Consolas"/>
              </a:rPr>
              <a:t>(b[o] &gt;&gt; n) &amp;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491947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ธง เช่น doorsClosed, errHighTemp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2971800"/>
            <a:ext cx="3383280" cy="2423160"/>
          </a:xfrm>
          <a:prstGeom prst="roundRect">
            <a:avLst>
              <a:gd name="adj" fmla="val 8000"/>
            </a:avLst>
          </a:prstGeom>
          <a:solidFill>
            <a:srgbClr val="E6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58200" y="3108960"/>
            <a:ext cx="30175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500" b="1" i="0">
                <a:solidFill>
                  <a:srgbClr val="0A5E66"/>
                </a:solidFill>
                <a:latin typeface="Leelawadee UI"/>
                <a:ea typeface="Leelawadee UI"/>
                <a:cs typeface="Leelawadee UI"/>
              </a:rPr>
              <a:t>กฎสำคัญ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5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• WorkMode อยู่ offset 226 แต่ลำดับคอลัมน์ที่ 85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5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• byte ไม่ครบ / ไม่ใช่ hex → ข้ามแถว ห้ามเติม 0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5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• เวลาในไฟล์ = เวลาไทย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5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• Stock.No เป็น 0 ทั้งหมด → 0000000000-V99R24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577840"/>
            <a:ext cx="11064240" cy="640080"/>
          </a:xfrm>
          <a:prstGeom prst="roundRect">
            <a:avLst>
              <a:gd name="adj" fmla="val 8000"/>
            </a:avLst>
          </a:prstGeom>
          <a:solidFill>
            <a:srgbClr val="FD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22960" y="571500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 i="0">
                <a:solidFill>
                  <a:srgbClr val="F25C54"/>
                </a:solidFill>
                <a:latin typeface="Leelawadee UI"/>
                <a:ea typeface="Leelawadee UI"/>
                <a:cs typeface="Leelawadee UI"/>
              </a:rPr>
              <a:t>ตรวจแล้ว:  </a:t>
            </a:r>
            <a:r>
              <a:rPr sz="135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ตรงกับสคริปต์ Python อ้างอิงทุกฟิลด์ทุกแถว · หัวตาราง 187 ฟิลด์ตรงกับ log จริงของโปรแกรม PC ทุก byte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หน้าติดตามสถานะ: การ์ด 1 เครื่อง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monitor.html — ชี้เมาส์ / แตะบนกราฟย่อ = ค่าในการ์ดเปลี่ยนเป็นค่า ณ เวลานั้น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1783080"/>
            <a:ext cx="438912" cy="438912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73736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5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ชื่อ + สถานะ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066543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Online / ไม่มีข้อมูลจากตู้ / Offline</a:t>
            </a:r>
          </a:p>
        </p:txBody>
      </p:sp>
      <p:sp>
        <p:nvSpPr>
          <p:cNvPr id="7" name="Oval 6"/>
          <p:cNvSpPr/>
          <p:nvPr/>
        </p:nvSpPr>
        <p:spPr>
          <a:xfrm>
            <a:off x="594360" y="2496311"/>
            <a:ext cx="438912" cy="438912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450591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5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ซอฟต์แวร์ + ข้อมูล 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779775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เวลาของแถวที่แสดง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3209544"/>
            <a:ext cx="438912" cy="438912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163824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5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กราฟย่อ 24 ชม.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493008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เฉพาะอุณหภูมิ สูง 200 px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3922776"/>
            <a:ext cx="438912" cy="438912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877056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5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อุณหภูมิ 5 ตัว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20624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TC / F / FD / R / RD-sensor</a:t>
            </a:r>
          </a:p>
        </p:txBody>
      </p:sp>
      <p:sp>
        <p:nvSpPr>
          <p:cNvPr id="16" name="Oval 15"/>
          <p:cNvSpPr/>
          <p:nvPr/>
        </p:nvSpPr>
        <p:spPr>
          <a:xfrm>
            <a:off x="594360" y="4636007"/>
            <a:ext cx="438912" cy="438912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59028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5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แผงควบคุม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919472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R / F set, Shabbat, ECO, Ice making</a:t>
            </a:r>
          </a:p>
        </p:txBody>
      </p:sp>
      <p:sp>
        <p:nvSpPr>
          <p:cNvPr id="19" name="Oval 18"/>
          <p:cNvSpPr/>
          <p:nvPr/>
        </p:nvSpPr>
        <p:spPr>
          <a:xfrm>
            <a:off x="594360" y="5349240"/>
            <a:ext cx="438912" cy="438912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30352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5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ท้ายการ์ด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632704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แจ้งเตือน · ปรับปรุงล่าสุด · ดูกราฟเต็ม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17373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สถานะของเครื่อง (deviceStatus)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0" y="2240280"/>
            <a:ext cx="5577840" cy="914400"/>
          </a:xfrm>
          <a:prstGeom prst="roundRect">
            <a:avLst>
              <a:gd name="adj" fmla="val 8000"/>
            </a:avLst>
          </a:prstGeom>
          <a:solidFill>
            <a:srgbClr val="F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263640" y="2350008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1A8F3C"/>
                </a:solidFill>
                <a:latin typeface="Leelawadee UI"/>
                <a:ea typeface="Leelawadee UI"/>
                <a:cs typeface="Leelawadee UI"/>
              </a:rPr>
              <a:t>● Online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2679192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ไฟล์ใน Drive ถูกปรับปรุงภายใน 25 นาที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5040" y="3291840"/>
            <a:ext cx="5577840" cy="914400"/>
          </a:xfrm>
          <a:prstGeom prst="roundRect">
            <a:avLst>
              <a:gd name="adj" fmla="val 8000"/>
            </a:avLst>
          </a:prstGeom>
          <a:solidFill>
            <a:srgbClr val="F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263640" y="3401568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B07000"/>
                </a:solidFill>
                <a:latin typeface="Leelawadee UI"/>
                <a:ea typeface="Leelawadee UI"/>
                <a:cs typeface="Leelawadee UI"/>
              </a:rPr>
              <a:t>● Online · ไม่มีข้อมูลจากตู้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3730752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ไฟล์ยังถูกปรับปรุง แต่แถวล่าสุดเก่ากว่าเกิน 25 นาที
= ESP32 ต่อเน็ตได้ แต่ไม่ได้ข้อมูลจากตู้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35040" y="4343400"/>
            <a:ext cx="5577840" cy="914400"/>
          </a:xfrm>
          <a:prstGeom prst="roundRect">
            <a:avLst>
              <a:gd name="adj" fmla="val 8000"/>
            </a:avLst>
          </a:prstGeom>
          <a:solidFill>
            <a:srgbClr val="F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263640" y="4453128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● Offline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4782312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ไฟล์ไม่ถูกปรับปรุงเกิน 25 นาที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35040" y="5440680"/>
            <a:ext cx="5577840" cy="731520"/>
          </a:xfrm>
          <a:prstGeom prst="roundRect">
            <a:avLst>
              <a:gd name="adj" fmla="val 8000"/>
            </a:avLst>
          </a:prstGeom>
          <a:solidFill>
            <a:srgbClr val="FD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263640" y="5550408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25C54"/>
                </a:solidFill>
                <a:latin typeface="Leelawadee UI"/>
                <a:ea typeface="Leelawadee UI"/>
                <a:cs typeface="Leelawadee UI"/>
              </a:rPr>
              <a:t>แจ้งเตือน  </a:t>
            </a:r>
            <a:r>
              <a:rPr sz="125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errHighTemp ≠ 0 = อุณหภูมิสูง · *.Err ≠ 0 = เซนเซอร์ผิดปกติ (จากแถวล่าสุด)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ระบบสมาชิก (login + อนุมัติ)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ใครก็สมัครได้ — แอดมินคนเดียวเป็นผู้อนุมัติ · คนไม่ได้รับอนุมัติไม่ได้ข้อมูลเลย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1965960" cy="1920240"/>
          </a:xfrm>
          <a:prstGeom prst="roundRect">
            <a:avLst>
              <a:gd name="adj" fmla="val 8000"/>
            </a:avLst>
          </a:prstGeom>
          <a:solidFill>
            <a:srgbClr val="E6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731520" y="1920240"/>
            <a:ext cx="457200" cy="457200"/>
          </a:xfrm>
          <a:prstGeom prst="ellipse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87168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กรอกอีเมล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80360"/>
            <a:ext cx="1600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Worker ส่งรหัส
6 หลักทางอีเมล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60320" y="2651760"/>
            <a:ext cx="228599" cy="274320"/>
          </a:xfrm>
          <a:prstGeom prst="rightArrow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34640" y="1783080"/>
            <a:ext cx="1965960" cy="1920240"/>
          </a:xfrm>
          <a:prstGeom prst="roundRect">
            <a:avLst>
              <a:gd name="adj" fmla="val 8000"/>
            </a:avLst>
          </a:prstGeom>
          <a:solidFill>
            <a:srgbClr val="E6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3017520" y="1920240"/>
            <a:ext cx="457200" cy="457200"/>
          </a:xfrm>
          <a:prstGeom prst="ellipse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487168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ใส่รหัส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880360"/>
            <a:ext cx="1600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login สำเร็จ
ค้างไว้ 30 วัน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46320" y="2651760"/>
            <a:ext cx="228599" cy="274320"/>
          </a:xfrm>
          <a:prstGeom prst="rightArrow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20640" y="1783080"/>
            <a:ext cx="1965960" cy="1920240"/>
          </a:xfrm>
          <a:prstGeom prst="roundRect">
            <a:avLst>
              <a:gd name="adj" fmla="val 8000"/>
            </a:avLst>
          </a:prstGeom>
          <a:solidFill>
            <a:srgbClr val="E6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5303520" y="1920240"/>
            <a:ext cx="457200" cy="457200"/>
          </a:xfrm>
          <a:prstGeom prst="ellipse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487168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ขอสิทธิ์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2880360"/>
            <a:ext cx="1600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ชื่อ / แผนก / เหตุผล
→ อีเมลแจ้งแอดมิน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132320" y="2651760"/>
            <a:ext cx="228599" cy="274320"/>
          </a:xfrm>
          <a:prstGeom prst="rightArrow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06640" y="1783080"/>
            <a:ext cx="1965960" cy="1920240"/>
          </a:xfrm>
          <a:prstGeom prst="roundRect">
            <a:avLst>
              <a:gd name="adj" fmla="val 8000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7589519" y="1920240"/>
            <a:ext cx="457200" cy="457200"/>
          </a:xfrm>
          <a:prstGeom prst="ellipse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19" y="2487168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แอดมินอนุมัติ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19" y="2880360"/>
            <a:ext cx="1600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7FD1D8"/>
                </a:solidFill>
                <a:latin typeface="Leelawadee UI"/>
                <a:ea typeface="Leelawadee UI"/>
                <a:cs typeface="Leelawadee UI"/>
              </a:rPr>
              <a:t>admin.html
→ อีเมลแจ้งผู้ใช้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418320" y="2651760"/>
            <a:ext cx="228599" cy="274320"/>
          </a:xfrm>
          <a:prstGeom prst="rightArrow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692640" y="1783080"/>
            <a:ext cx="1965960" cy="1920240"/>
          </a:xfrm>
          <a:prstGeom prst="roundRect">
            <a:avLst>
              <a:gd name="adj" fmla="val 8000"/>
            </a:avLst>
          </a:prstGeom>
          <a:solidFill>
            <a:srgbClr val="E6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9875519" y="1920240"/>
            <a:ext cx="457200" cy="457200"/>
          </a:xfrm>
          <a:prstGeom prst="ellipse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19" y="2487168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ใช้งาน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19" y="2880360"/>
            <a:ext cx="1600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เห็นการ์ด + กราฟ
ข้อมูลจริง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977639"/>
            <a:ext cx="5440680" cy="914400"/>
          </a:xfrm>
          <a:prstGeom prst="roundRect">
            <a:avLst>
              <a:gd name="adj" fmla="val 8000"/>
            </a:avLst>
          </a:prstGeom>
          <a:solidFill>
            <a:srgbClr val="F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7240" y="4087368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1" i="0">
                <a:solidFill>
                  <a:srgbClr val="0A5E66"/>
                </a:solidFill>
                <a:latin typeface="Leelawadee UI"/>
                <a:ea typeface="Leelawadee UI"/>
                <a:cs typeface="Leelawadee UI"/>
              </a:rPr>
              <a:t>รหัส OTP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43484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ใช้ได้ 10 นาที · ใส่ผิดได้ 5 ครั้ง · ขอได้ 5 ครั้ง/ชม./อีเมล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3977639"/>
            <a:ext cx="5440680" cy="914400"/>
          </a:xfrm>
          <a:prstGeom prst="roundRect">
            <a:avLst>
              <a:gd name="adj" fmla="val 8000"/>
            </a:avLst>
          </a:prstGeom>
          <a:solidFill>
            <a:srgbClr val="F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00800" y="4087368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1" i="0">
                <a:solidFill>
                  <a:srgbClr val="0A5E66"/>
                </a:solidFill>
                <a:latin typeface="Leelawadee UI"/>
                <a:ea typeface="Leelawadee UI"/>
                <a:cs typeface="Leelawadee UI"/>
              </a:rPr>
              <a:t>ถอนสิทธิ์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43484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มีผลภายใน ~1 นาที แม้ยัง login ค้างอยู่ · ปฏิเสธ/ถอนแล้วขอใหม่ได้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029200"/>
            <a:ext cx="5440680" cy="914400"/>
          </a:xfrm>
          <a:prstGeom prst="roundRect">
            <a:avLst>
              <a:gd name="adj" fmla="val 8000"/>
            </a:avLst>
          </a:prstGeom>
          <a:solidFill>
            <a:srgbClr val="F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77240" y="5138928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1" i="0">
                <a:solidFill>
                  <a:srgbClr val="0A5E66"/>
                </a:solidFill>
                <a:latin typeface="Leelawadee UI"/>
                <a:ea typeface="Leelawadee UI"/>
                <a:cs typeface="Leelawadee UI"/>
              </a:rPr>
              <a:t>แอดมิน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48640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= อีเมลใน ADMIN_EMAIL (Worker secret) ได้สิทธิ์เสมอ ไม่ต้องอนุมัติ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72200" y="5029200"/>
            <a:ext cx="5440680" cy="914400"/>
          </a:xfrm>
          <a:prstGeom prst="roundRect">
            <a:avLst>
              <a:gd name="adj" fmla="val 8000"/>
            </a:avLst>
          </a:prstGeom>
          <a:solidFill>
            <a:srgbClr val="F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00800" y="5138928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1" i="0">
                <a:solidFill>
                  <a:srgbClr val="0A5E66"/>
                </a:solidFill>
                <a:latin typeface="Leelawadee UI"/>
                <a:ea typeface="Leelawadee UI"/>
                <a:cs typeface="Leelawadee UI"/>
              </a:rPr>
              <a:t>ตรวจที่ไหน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548640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Worker ตรวจทุกคำขอ — หน้าเว็บแค่แสดงผล รู้ URL ก็ไม่ได้ข้อมูล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โค้ดฝั่งเซิร์ฟเวอร์ + ค่าลับอยู่ที่ไหน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อยู่ใน repo เพื่อเก็บประวัติ แต่ต้อง deploy เอง — คู่มือ docs/MONITORING-SETUP.md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5486400" cy="1645920"/>
          </a:xfrm>
          <a:prstGeom prst="roundRect">
            <a:avLst>
              <a:gd name="adj" fmla="val 8000"/>
            </a:avLst>
          </a:prstGeom>
          <a:solidFill>
            <a:srgbClr val="F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1847088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0A5E66"/>
                </a:solidFill>
                <a:latin typeface="Consolas"/>
                <a:ea typeface="Consolas"/>
                <a:cs typeface="Consolas"/>
              </a:rPr>
              <a:t>server/apps-script/Code.gs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7627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1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Google Apps Script (Web App)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87168"/>
            <a:ext cx="5120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?action=index → รายการเครื่อง + ไฟล์ 62 วัน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?action=file → เนื้อไฟล์ (เฉพาะในโฟลเดอร์)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POST mail → ส่งรหัส / แจ้งแอดมิน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520439"/>
            <a:ext cx="5486400" cy="1645920"/>
          </a:xfrm>
          <a:prstGeom prst="roundRect">
            <a:avLst>
              <a:gd name="adj" fmla="val 8000"/>
            </a:avLst>
          </a:prstGeom>
          <a:solidFill>
            <a:srgbClr val="F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3630168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0A5E66"/>
                </a:solidFill>
                <a:latin typeface="Consolas"/>
                <a:ea typeface="Consolas"/>
                <a:cs typeface="Consolas"/>
              </a:rPr>
              <a:t>server/worker/worker.js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5935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1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Cloudflare Worker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270248"/>
            <a:ext cx="5120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/auth/… → login, ขอสิทธิ์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/index, /file → ข้อมูล (อนุมัติแล้วเท่านั้น)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/admin/users → จัดการผู้ใช้ (แอดมิน)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73736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ค่าตั้ง / ค่าลับ → เก็บที่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194560"/>
            <a:ext cx="5303520" cy="685800"/>
          </a:xfrm>
          <a:prstGeom prst="roundRect">
            <a:avLst>
              <a:gd name="adj" fmla="val 8000"/>
            </a:avLst>
          </a:prstGeom>
          <a:solidFill>
            <a:srgbClr val="FD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92240" y="226771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F25C54"/>
                </a:solidFill>
                <a:latin typeface="Consolas"/>
                <a:ea typeface="Consolas"/>
                <a:cs typeface="Consolas"/>
              </a:rPr>
              <a:t>SECRET · FOLDER_ID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5603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Apps Script → Script Properties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971800"/>
            <a:ext cx="5303520" cy="685800"/>
          </a:xfrm>
          <a:prstGeom prst="roundRect">
            <a:avLst>
              <a:gd name="adj" fmla="val 8000"/>
            </a:avLst>
          </a:prstGeom>
          <a:solidFill>
            <a:srgbClr val="FD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2240" y="304495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F25C54"/>
                </a:solidFill>
                <a:latin typeface="Consolas"/>
                <a:ea typeface="Consolas"/>
                <a:cs typeface="Consolas"/>
              </a:rPr>
              <a:t>APPS_SCRIPT_KEY · SESSION_SECRET · ADMIN_EMAIL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337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Worker → Variables and Secrets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749039"/>
            <a:ext cx="5303520" cy="685800"/>
          </a:xfrm>
          <a:prstGeom prst="roundRect">
            <a:avLst>
              <a:gd name="adj" fmla="val 8000"/>
            </a:avLst>
          </a:prstGeom>
          <a:solidFill>
            <a:srgbClr val="F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92240" y="3822191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0A5E66"/>
                </a:solidFill>
                <a:latin typeface="Consolas"/>
                <a:ea typeface="Consolas"/>
                <a:cs typeface="Consolas"/>
              </a:rPr>
              <a:t>APPS_SCRIPT_URL · KV USERS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1148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Worker → Variables / Bindings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4526279"/>
            <a:ext cx="5303520" cy="685800"/>
          </a:xfrm>
          <a:prstGeom prst="roundRect">
            <a:avLst>
              <a:gd name="adj" fmla="val 8000"/>
            </a:avLst>
          </a:prstGeom>
          <a:solidFill>
            <a:srgbClr val="F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92240" y="4599431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0A5E66"/>
                </a:solidFill>
                <a:latin typeface="Consolas"/>
                <a:ea typeface="Consolas"/>
                <a:cs typeface="Consolas"/>
              </a:rPr>
              <a:t>WORKER_URL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89204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js/config.js (เปิดเผยได้)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440680"/>
            <a:ext cx="11064240" cy="777240"/>
          </a:xfrm>
          <a:prstGeom prst="roundRect">
            <a:avLst>
              <a:gd name="adj" fmla="val 8000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22960" y="5559552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 i="0">
                <a:solidFill>
                  <a:srgbClr val="F25C54"/>
                </a:solidFill>
                <a:latin typeface="Leelawadee UI"/>
                <a:ea typeface="Leelawadee UI"/>
                <a:cs typeface="Leelawadee UI"/>
              </a:rPr>
              <a:t>แก้ไฟล์ใน server/ แล้วต้อง deploy เอง:  </a:t>
            </a:r>
            <a:r>
              <a:rPr sz="1300" b="0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Code.gs → Deploy → Manage deployments → New version · worker.js → Edit code → วาง → Deploy · ห้ามใส่ค่าลับในไฟล์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" y="2103120"/>
            <a:ext cx="914400" cy="914400"/>
          </a:xfrm>
          <a:prstGeom prst="ellipse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4612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ลงมือทำ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605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7FD1D8"/>
                </a:solidFill>
                <a:latin typeface="Leelawadee UI"/>
                <a:ea typeface="Leelawadee UI"/>
                <a:cs typeface="Leelawadee UI"/>
              </a:rPr>
              <a:t>เตรียมเครื่อง → รันในเครื่อง → เพิ่มรายการใหม่ → ทดสอบ → Release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เตรียมเครื่อง + รันในเครื่อง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ไม่ต้องมี Node.js / npm — แก้ไฟล์แล้วรีเฟรช browser ได้เลย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4937760" cy="731520"/>
          </a:xfrm>
          <a:prstGeom prst="roundRect">
            <a:avLst>
              <a:gd name="adj" fmla="val 8000"/>
            </a:avLst>
          </a:prstGeom>
          <a:solidFill>
            <a:srgbClr val="F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22960" y="1892807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Python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รัน server + สร้างไฟล์ตัวอย่าง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4937760" cy="731520"/>
          </a:xfrm>
          <a:prstGeom prst="roundRect">
            <a:avLst>
              <a:gd name="adj" fmla="val 8000"/>
            </a:avLst>
          </a:prstGeom>
          <a:solidFill>
            <a:srgbClr val="F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27614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Git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632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เก็บประวัติ / ส่งขึ้น GitHub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20439"/>
            <a:ext cx="4937760" cy="731520"/>
          </a:xfrm>
          <a:prstGeom prst="roundRect">
            <a:avLst>
              <a:gd name="adj" fmla="val 8000"/>
            </a:avLst>
          </a:prstGeom>
          <a:solidFill>
            <a:srgbClr val="F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60" y="363016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Browser รุ่นใหม่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319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Chrome / Edge / Firefox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389120"/>
            <a:ext cx="4937760" cy="731520"/>
          </a:xfrm>
          <a:prstGeom prst="roundRect">
            <a:avLst>
              <a:gd name="adj" fmla="val 8000"/>
            </a:avLst>
          </a:prstGeom>
          <a:solidFill>
            <a:srgbClr val="F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2960" y="449884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openpyxl (ไม่บังคับ)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8006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สร้าง sample.xlsx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0" y="1783080"/>
            <a:ext cx="5760720" cy="1097280"/>
          </a:xfrm>
          <a:prstGeom prst="roundRect">
            <a:avLst>
              <a:gd name="adj" fmla="val 8000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080760" y="1965960"/>
            <a:ext cx="5303520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7FD1D8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6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python -m http.server 8000</a:t>
            </a:r>
          </a:p>
        </p:txBody>
      </p:sp>
      <p:sp>
        <p:nvSpPr>
          <p:cNvPr id="18" name="Oval 17"/>
          <p:cNvSpPr/>
          <p:nvPr/>
        </p:nvSpPr>
        <p:spPr>
          <a:xfrm>
            <a:off x="5897880" y="3108960"/>
            <a:ext cx="384048" cy="384048"/>
          </a:xfrm>
          <a:prstGeom prst="ellipse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145536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เปิด http://localhost:8000</a:t>
            </a:r>
          </a:p>
        </p:txBody>
      </p:sp>
      <p:sp>
        <p:nvSpPr>
          <p:cNvPr id="20" name="Oval 19"/>
          <p:cNvSpPr/>
          <p:nvPr/>
        </p:nvSpPr>
        <p:spPr>
          <a:xfrm>
            <a:off x="5897880" y="3675887"/>
            <a:ext cx="384048" cy="384048"/>
          </a:xfrm>
          <a:prstGeom prst="ellipse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712463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กด "ทดลองใช้งานด้วยไฟล์ตัวอย่าง" → เห็นกราฟครบ</a:t>
            </a:r>
          </a:p>
        </p:txBody>
      </p:sp>
      <p:sp>
        <p:nvSpPr>
          <p:cNvPr id="22" name="Oval 21"/>
          <p:cNvSpPr/>
          <p:nvPr/>
        </p:nvSpPr>
        <p:spPr>
          <a:xfrm>
            <a:off x="5897880" y="4242816"/>
            <a:ext cx="384048" cy="384048"/>
          </a:xfrm>
          <a:prstGeom prst="ellipse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27939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F12 → Console ต้องไม่มีสีแดง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52160" y="4937760"/>
            <a:ext cx="5760720" cy="1143000"/>
          </a:xfrm>
          <a:prstGeom prst="roundRect">
            <a:avLst>
              <a:gd name="adj" fmla="val 8000"/>
            </a:avLst>
          </a:prstGeom>
          <a:solidFill>
            <a:srgbClr val="FD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080760" y="5074920"/>
            <a:ext cx="5394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 i="0">
                <a:solidFill>
                  <a:srgbClr val="F25C54"/>
                </a:solidFill>
                <a:latin typeface="Leelawadee UI"/>
                <a:ea typeface="Leelawadee UI"/>
                <a:cs typeface="Leelawadee UI"/>
              </a:rPr>
              <a:t>ห้ามดับเบิลคลิกไฟล์ .html  </a:t>
            </a:r>
            <a:r>
              <a:rPr sz="140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(file://) — module / Worker ใช้ไม่ได้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 i="0">
                <a:solidFill>
                  <a:srgbClr val="F25C54"/>
                </a:solidFill>
                <a:latin typeface="Leelawadee UI"/>
                <a:ea typeface="Leelawadee UI"/>
                <a:cs typeface="Leelawadee UI"/>
              </a:rPr>
              <a:t>แก้แล้วไม่เปลี่ยน?  </a:t>
            </a:r>
            <a:r>
              <a:rPr sz="140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กด Ctrl+F5 (browser จำไฟล์เก่า)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เพิ่มรายการใหม่ — 7 ขั้น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ตัวอย่าง: สถานะประตู doorsClosed (1 = ปิด, 0 = เปิด) เป็นจุดสีเทาตอนประตูเปิด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65960"/>
            <a:ext cx="1481328" cy="3017520"/>
          </a:xfrm>
          <a:prstGeom prst="roundRect">
            <a:avLst>
              <a:gd name="adj" fmla="val 8000"/>
            </a:avLst>
          </a:prstGeom>
          <a:solidFill>
            <a:srgbClr val="E6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1005840" y="2194560"/>
            <a:ext cx="566928" cy="566928"/>
          </a:xfrm>
          <a:prstGeom prst="ellipse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926080"/>
            <a:ext cx="12618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ดูข้อมูลจริง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703320"/>
            <a:ext cx="126187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ชื่อคอลัมน์ตรงตัว
ค่าที่เป็นไปได้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48840" y="2331720"/>
            <a:ext cx="1481328" cy="3017520"/>
          </a:xfrm>
          <a:prstGeom prst="roundRect">
            <a:avLst>
              <a:gd name="adj" fmla="val 8000"/>
            </a:avLst>
          </a:prstGeom>
          <a:solidFill>
            <a:srgbClr val="E6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2606040" y="2560320"/>
            <a:ext cx="566928" cy="566928"/>
          </a:xfrm>
          <a:prstGeom prst="ellipse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58568" y="3291839"/>
            <a:ext cx="12618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เลือก kind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58568" y="4069079"/>
            <a:ext cx="126187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sensor / line
marker / value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39" y="1965960"/>
            <a:ext cx="1481328" cy="3017520"/>
          </a:xfrm>
          <a:prstGeom prst="roundRect">
            <a:avLst>
              <a:gd name="adj" fmla="val 8000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4206240" y="2194560"/>
            <a:ext cx="566928" cy="566928"/>
          </a:xfrm>
          <a:prstGeom prst="ellipse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58768" y="2926080"/>
            <a:ext cx="12618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เพิ่ม 1 บรรทัด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58768" y="3703320"/>
            <a:ext cx="126187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7FD1D8"/>
                </a:solidFill>
                <a:latin typeface="Leelawadee UI"/>
                <a:ea typeface="Leelawadee UI"/>
                <a:cs typeface="Leelawadee UI"/>
              </a:rPr>
              <a:t>STATUS_ITEMS
ใน logformat.js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49240" y="2331720"/>
            <a:ext cx="1481328" cy="3017520"/>
          </a:xfrm>
          <a:prstGeom prst="roundRect">
            <a:avLst>
              <a:gd name="adj" fmla="val 8000"/>
            </a:avLst>
          </a:prstGeom>
          <a:solidFill>
            <a:srgbClr val="E6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5806440" y="2560320"/>
            <a:ext cx="566928" cy="566928"/>
          </a:xfrm>
          <a:prstGeom prst="ellipse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58968" y="3291839"/>
            <a:ext cx="12618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ข้อความพิเศษ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58968" y="4069079"/>
            <a:ext cx="126187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cursorText()
(ถ้าต้องการ)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0" y="1965960"/>
            <a:ext cx="1481328" cy="3017520"/>
          </a:xfrm>
          <a:prstGeom prst="roundRect">
            <a:avLst>
              <a:gd name="adj" fmla="val 8000"/>
            </a:avLst>
          </a:prstGeom>
          <a:solidFill>
            <a:srgbClr val="E6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7406640" y="2194560"/>
            <a:ext cx="566928" cy="566928"/>
          </a:xfrm>
          <a:prstGeom prst="ellipse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2926080"/>
            <a:ext cx="12618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ไฟล์ตัวอย่าง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9168" y="3703320"/>
            <a:ext cx="126187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make-sample.py
ต้องมีทุกเส้น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49640" y="2331720"/>
            <a:ext cx="1481328" cy="3017520"/>
          </a:xfrm>
          <a:prstGeom prst="roundRect">
            <a:avLst>
              <a:gd name="adj" fmla="val 8000"/>
            </a:avLst>
          </a:prstGeom>
          <a:solidFill>
            <a:srgbClr val="E6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9006840" y="2560320"/>
            <a:ext cx="566928" cy="566928"/>
          </a:xfrm>
          <a:prstGeom prst="ellipse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59367" y="3291839"/>
            <a:ext cx="12618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ทดสอบ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59367" y="4069079"/>
            <a:ext cx="126187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ตัวอย่าง + ไฟล์จริง
Console สะอาด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49840" y="1965960"/>
            <a:ext cx="1481328" cy="3017520"/>
          </a:xfrm>
          <a:prstGeom prst="roundRect">
            <a:avLst>
              <a:gd name="adj" fmla="val 8000"/>
            </a:avLst>
          </a:prstGeom>
          <a:solidFill>
            <a:srgbClr val="E6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10607040" y="2194560"/>
            <a:ext cx="566928" cy="566928"/>
          </a:xfrm>
          <a:prstGeom prst="ellipse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59567" y="2926080"/>
            <a:ext cx="12618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อัปเดต
CLAUDE.md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59567" y="3703320"/>
            <a:ext cx="126187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สเปกหลัก
ของโปรเจกต์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F25C54"/>
                </a:solidFill>
                <a:latin typeface="Leelawadee UI"/>
                <a:ea typeface="Leelawadee UI"/>
                <a:cs typeface="Leelawadee UI"/>
              </a:rPr>
              <a:t>ส่วนใหญ่แก้แค่ขั้นที่ 3 + 5 + 7  </a:t>
            </a:r>
            <a:r>
              <a:rPr sz="150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Worker อ่านคอลัมน์ใหม่ให้เองอัตโนมัติ ไม่ต้องแก้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ขั้นที่ 3 — เพิ่มใน STATUS_ITEMS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js/logformat.js · 1 รายการ = 1 object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6675120" cy="3154680"/>
          </a:xfrm>
          <a:prstGeom prst="roundRect">
            <a:avLst>
              <a:gd name="adj" fmla="val 8000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6217920" cy="278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8B98A9"/>
                </a:solidFill>
                <a:latin typeface="Consolas"/>
                <a:ea typeface="Consolas"/>
                <a:cs typeface="Consolas"/>
              </a:rPr>
              <a:t>// ประตู: 1 = ปิด, 0 = เปิด → จุดเทาที่ Y = 51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{ </a:t>
            </a:r>
            <a:r>
              <a:rPr sz="1500" b="0" i="0">
                <a:solidFill>
                  <a:srgbClr val="7FD1D8"/>
                </a:solidFill>
                <a:latin typeface="Consolas"/>
                <a:ea typeface="Consolas"/>
                <a:cs typeface="Consolas"/>
              </a:rPr>
              <a:t>key</a:t>
            </a: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: "doorOpen",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7FD1D8"/>
                </a:solidFill>
                <a:latin typeface="Consolas"/>
                <a:ea typeface="Consolas"/>
                <a:cs typeface="Consolas"/>
              </a:rPr>
              <a:t>  column</a:t>
            </a: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: "doorsClosed",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7FD1D8"/>
                </a:solidFill>
                <a:latin typeface="Consolas"/>
                <a:ea typeface="Consolas"/>
                <a:cs typeface="Consolas"/>
              </a:rPr>
              <a:t>  group</a:t>
            </a: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: "system", </a:t>
            </a:r>
            <a:r>
              <a:rPr sz="1500" b="0" i="0">
                <a:solidFill>
                  <a:srgbClr val="7FD1D8"/>
                </a:solidFill>
                <a:latin typeface="Consolas"/>
                <a:ea typeface="Consolas"/>
                <a:cs typeface="Consolas"/>
              </a:rPr>
              <a:t>kind</a:t>
            </a: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: "marker",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7FD1D8"/>
                </a:solidFill>
                <a:latin typeface="Consolas"/>
                <a:ea typeface="Consolas"/>
                <a:cs typeface="Consolas"/>
              </a:rPr>
              <a:t>  shape</a:t>
            </a: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: "dot", </a:t>
            </a:r>
            <a:r>
              <a:rPr sz="1500" b="0" i="0">
                <a:solidFill>
                  <a:srgbClr val="7FD1D8"/>
                </a:solidFill>
                <a:latin typeface="Consolas"/>
                <a:ea typeface="Consolas"/>
                <a:cs typeface="Consolas"/>
              </a:rPr>
              <a:t>y</a:t>
            </a: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: 51, </a:t>
            </a:r>
            <a:r>
              <a:rPr sz="1500" b="0" i="0">
                <a:solidFill>
                  <a:srgbClr val="7FD1D8"/>
                </a:solidFill>
                <a:latin typeface="Consolas"/>
                <a:ea typeface="Consolas"/>
                <a:cs typeface="Consolas"/>
              </a:rPr>
              <a:t>drawWhen</a:t>
            </a: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: "zero",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7FD1D8"/>
                </a:solidFill>
                <a:latin typeface="Consolas"/>
                <a:ea typeface="Consolas"/>
                <a:cs typeface="Consolas"/>
              </a:rPr>
              <a:t>  color</a:t>
            </a: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: "rgb(150, 150, 150)",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7FD1D8"/>
                </a:solidFill>
                <a:latin typeface="Consolas"/>
                <a:ea typeface="Consolas"/>
                <a:cs typeface="Consolas"/>
              </a:rPr>
              <a:t>  th</a:t>
            </a: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: "Door open", </a:t>
            </a:r>
            <a:r>
              <a:rPr sz="1500" b="0" i="0">
                <a:solidFill>
                  <a:srgbClr val="7FD1D8"/>
                </a:solidFill>
                <a:latin typeface="Consolas"/>
                <a:ea typeface="Consolas"/>
                <a:cs typeface="Consolas"/>
              </a:rPr>
              <a:t>en</a:t>
            </a: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: "Door open",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7FD1D8"/>
                </a:solidFill>
                <a:latin typeface="Consolas"/>
                <a:ea typeface="Consolas"/>
                <a:cs typeface="Consolas"/>
              </a:rPr>
              <a:t>  display</a:t>
            </a: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: "onOff" },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78308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F25C54"/>
                </a:solidFill>
                <a:latin typeface="Consolas"/>
                <a:ea typeface="Consolas"/>
                <a:cs typeface="Consolas"/>
              </a:rPr>
              <a:t>column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20574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ชื่อคอลัมน์ในไฟล์ (ตรงตัว, ตัวพิมพ์เล็ก/ใหญ่ต้องตรง)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242316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F25C54"/>
                </a:solidFill>
                <a:latin typeface="Consolas"/>
                <a:ea typeface="Consolas"/>
                <a:cs typeface="Consolas"/>
              </a:rPr>
              <a:t>group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2697479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หัวข้อในตาราง เช่น system / control / error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3063239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F25C54"/>
                </a:solidFill>
                <a:latin typeface="Consolas"/>
                <a:ea typeface="Consolas"/>
                <a:cs typeface="Consolas"/>
              </a:rPr>
              <a:t>kind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3337559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line / marker / value — ดูสไลด์ "รายการ 4 ชนิด"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37033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F25C54"/>
                </a:solidFill>
                <a:latin typeface="Consolas"/>
                <a:ea typeface="Consolas"/>
                <a:cs typeface="Consolas"/>
              </a:rPr>
              <a:t>y / drawWhen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3977639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ตำแหน่งบนกราฟ / วาดตอนค่า ≠ 0 หรือ =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43434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F25C54"/>
                </a:solidFill>
                <a:latin typeface="Consolas"/>
                <a:ea typeface="Consolas"/>
                <a:cs typeface="Consolas"/>
              </a:rPr>
              <a:t>display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46177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ข้อความ ณ เคอร์เซอร์: onOff, raw, temp, error…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212080"/>
            <a:ext cx="11064240" cy="868680"/>
          </a:xfrm>
          <a:prstGeom prst="roundRect">
            <a:avLst>
              <a:gd name="adj" fmla="val 8000"/>
            </a:avLst>
          </a:prstGeom>
          <a:solidFill>
            <a:srgbClr val="E6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2960" y="5376672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0A5E66"/>
                </a:solidFill>
                <a:latin typeface="Leelawadee UI"/>
                <a:ea typeface="Leelawadee UI"/>
                <a:cs typeface="Leelawadee UI"/>
              </a:rPr>
              <a:t>เสริมได้:  </a:t>
            </a:r>
            <a:r>
              <a:rPr sz="140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noAvg · defaultOff · dash · behind · temp (×0.1 °C) · signed8 (234 → −22) · requires / absentWith (ไม่มีชิ้นส่วนในตู้)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งานแก้ไขที่เจอบ่อย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อยากทำอะไร → แก้ตรงไหน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5440680" cy="713232"/>
          </a:xfrm>
          <a:prstGeom prst="roundRect">
            <a:avLst>
              <a:gd name="adj" fmla="val 8000"/>
            </a:avLst>
          </a:prstGeom>
          <a:solidFill>
            <a:srgbClr val="F3F9FA"/>
          </a:solidFill>
          <a:ln w="12700">
            <a:solidFill>
              <a:srgbClr val="E6F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198424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เปลี่ยนสี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984248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0A5E66"/>
                </a:solidFill>
                <a:latin typeface="Consolas"/>
                <a:ea typeface="Consolas"/>
                <a:cs typeface="Consolas"/>
              </a:rPr>
              <a:t>color ใน SENSORS / STATUS_ITEMS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783080"/>
            <a:ext cx="5440680" cy="713232"/>
          </a:xfrm>
          <a:prstGeom prst="roundRect">
            <a:avLst>
              <a:gd name="adj" fmla="val 8000"/>
            </a:avLst>
          </a:prstGeom>
          <a:solidFill>
            <a:srgbClr val="F3F9FA"/>
          </a:solidFill>
          <a:ln w="12700">
            <a:solidFill>
              <a:srgbClr val="E6F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0800" y="198424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เปลี่ยนตำแหน่ง 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1080" y="1984248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0A5E66"/>
                </a:solidFill>
                <a:latin typeface="Consolas"/>
                <a:ea typeface="Consolas"/>
                <a:cs typeface="Consolas"/>
              </a:rPr>
              <a:t>y · yWhenZero / yOtherwise · yRange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24328"/>
            <a:ext cx="54406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F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" y="2825496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เปลี่ยนชื่อที่แสดง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825496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0A5E66"/>
                </a:solidFill>
                <a:latin typeface="Consolas"/>
                <a:ea typeface="Consolas"/>
                <a:cs typeface="Consolas"/>
              </a:rPr>
              <a:t>th / 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624328"/>
            <a:ext cx="54406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F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00800" y="2825496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ย้ายหัวข้อ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2825496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0A5E66"/>
                </a:solidFill>
                <a:latin typeface="Consolas"/>
                <a:ea typeface="Consolas"/>
                <a:cs typeface="Consolas"/>
              </a:rPr>
              <a:t>group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465576"/>
            <a:ext cx="5440680" cy="713232"/>
          </a:xfrm>
          <a:prstGeom prst="roundRect">
            <a:avLst>
              <a:gd name="adj" fmla="val 8000"/>
            </a:avLst>
          </a:prstGeom>
          <a:solidFill>
            <a:srgbClr val="F3F9FA"/>
          </a:solidFill>
          <a:ln w="12700">
            <a:solidFill>
              <a:srgbClr val="E6F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" y="3666744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ย้ายกล่องบนจอแนวนอน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666744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0A5E66"/>
                </a:solidFill>
                <a:latin typeface="Consolas"/>
                <a:ea typeface="Consolas"/>
                <a:cs typeface="Consolas"/>
              </a:rPr>
              <a:t>TABLE_GROUPS (slot) ใน main.js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465576"/>
            <a:ext cx="5440680" cy="713232"/>
          </a:xfrm>
          <a:prstGeom prst="roundRect">
            <a:avLst>
              <a:gd name="adj" fmla="val 8000"/>
            </a:avLst>
          </a:prstGeom>
          <a:solidFill>
            <a:srgbClr val="F3F9FA"/>
          </a:solidFill>
          <a:ln w="12700">
            <a:solidFill>
              <a:srgbClr val="E6F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00800" y="3666744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ไม่ติ๊กตั้งแต่แรก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3666744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0A5E66"/>
                </a:solidFill>
                <a:latin typeface="Consolas"/>
                <a:ea typeface="Consolas"/>
                <a:cs typeface="Consolas"/>
              </a:rPr>
              <a:t>defaultOff: true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306824"/>
            <a:ext cx="54406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F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7240" y="450799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ข้อความ TH/EN ใน HTML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4507992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0A5E66"/>
                </a:solidFill>
                <a:latin typeface="Consolas"/>
                <a:ea typeface="Consolas"/>
                <a:cs typeface="Consolas"/>
              </a:rPr>
              <a:t>data-th="…" data-en="…"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4306824"/>
            <a:ext cx="54406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F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00800" y="450799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รูปแบบวันที่ใหม่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4507992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0A5E66"/>
                </a:solidFill>
                <a:latin typeface="Consolas"/>
                <a:ea typeface="Consolas"/>
                <a:cs typeface="Consolas"/>
              </a:rPr>
              <a:t>parseDateParts() ใน logformat.js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148072"/>
            <a:ext cx="5440680" cy="713232"/>
          </a:xfrm>
          <a:prstGeom prst="roundRect">
            <a:avLst>
              <a:gd name="adj" fmla="val 8000"/>
            </a:avLst>
          </a:prstGeom>
          <a:solidFill>
            <a:srgbClr val="F3F9FA"/>
          </a:solidFill>
          <a:ln w="12700">
            <a:solidFill>
              <a:srgbClr val="E6F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7240" y="53492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สีพื้น / โหมดมืด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534924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0A5E66"/>
                </a:solidFill>
                <a:latin typeface="Consolas"/>
                <a:ea typeface="Consolas"/>
                <a:cs typeface="Consolas"/>
              </a:rPr>
              <a:t>:root / [data-theme=dark] ใน style.css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5148072"/>
            <a:ext cx="5440680" cy="713232"/>
          </a:xfrm>
          <a:prstGeom prst="roundRect">
            <a:avLst>
              <a:gd name="adj" fmla="val 8000"/>
            </a:avLst>
          </a:prstGeom>
          <a:solidFill>
            <a:srgbClr val="F3F9FA"/>
          </a:solidFill>
          <a:ln w="12700">
            <a:solidFill>
              <a:srgbClr val="E6F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00800" y="53492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แกน 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41080" y="534924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0A5E66"/>
                </a:solidFill>
                <a:latin typeface="Consolas"/>
                <a:ea typeface="Consolas"/>
                <a:cs typeface="Consolas"/>
              </a:rPr>
              <a:t>Y_AXIS_RANGE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ทดสอบก่อนปล่อย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ทำทุกข้อก่อน push ทุกครั้ง — เริ่มด้วย Ctrl+F5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2606040" cy="4343400"/>
          </a:xfrm>
          <a:prstGeom prst="roundRect">
            <a:avLst>
              <a:gd name="adj" fmla="val 8000"/>
            </a:avLst>
          </a:prstGeom>
          <a:solidFill>
            <a:srgbClr val="F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22959" y="196596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900" b="1" i="0">
                <a:solidFill>
                  <a:srgbClr val="0A5E66"/>
                </a:solidFill>
                <a:latin typeface="Leelawadee UI"/>
                <a:ea typeface="Leelawadee UI"/>
                <a:cs typeface="Leelawadee UI"/>
              </a:rPr>
              <a:t>ไฟล์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59" y="2606039"/>
            <a:ext cx="237744" cy="237744"/>
          </a:xfrm>
          <a:prstGeom prst="roundRect">
            <a:avLst/>
          </a:prstGeom>
          <a:noFill/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19" y="2560320"/>
            <a:ext cx="1828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sample .log .csv .xlsx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59" y="3447287"/>
            <a:ext cx="237744" cy="237744"/>
          </a:xfrm>
          <a:prstGeom prst="roundRect">
            <a:avLst/>
          </a:prstGeom>
          <a:noFill/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19" y="3401568"/>
            <a:ext cx="1828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ไฟล์จริงใน samples/private/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59" y="4288536"/>
            <a:ext cx="237744" cy="237744"/>
          </a:xfrm>
          <a:prstGeom prst="roundRect">
            <a:avLst/>
          </a:prstGeom>
          <a:noFill/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4242816"/>
            <a:ext cx="1828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big.log 80 MB ไม่ค้าง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59" y="5129784"/>
            <a:ext cx="237744" cy="237744"/>
          </a:xfrm>
          <a:prstGeom prst="roundRect">
            <a:avLst/>
          </a:prstGeom>
          <a:noFill/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19" y="5084064"/>
            <a:ext cx="1828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samples/broken ขึ้น error ที่อ่านเข้าใจ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64992" y="1783080"/>
            <a:ext cx="2606040" cy="4343400"/>
          </a:xfrm>
          <a:prstGeom prst="roundRect">
            <a:avLst>
              <a:gd name="adj" fmla="val 8000"/>
            </a:avLst>
          </a:prstGeom>
          <a:solidFill>
            <a:srgbClr val="F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39312" y="196596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900" b="1" i="0">
                <a:solidFill>
                  <a:srgbClr val="0A5E66"/>
                </a:solidFill>
                <a:latin typeface="Leelawadee UI"/>
                <a:ea typeface="Leelawadee UI"/>
                <a:cs typeface="Leelawadee UI"/>
              </a:rPr>
              <a:t>หน้าจอ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39312" y="2606039"/>
            <a:ext cx="237744" cy="237744"/>
          </a:xfrm>
          <a:prstGeom prst="roundRect">
            <a:avLst/>
          </a:prstGeom>
          <a:noFill/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05072" y="2560320"/>
            <a:ext cx="1828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จอแนวนอน: ตารางรอบกราฟ ในจอเดียว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39312" y="3447287"/>
            <a:ext cx="237744" cy="237744"/>
          </a:xfrm>
          <a:prstGeom prst="roundRect">
            <a:avLst/>
          </a:prstGeom>
          <a:noFill/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05072" y="3401568"/>
            <a:ext cx="1828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จอแนวตั้ง / มือถือ ไม่มีแถบเลื่อนแนวนอน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39312" y="4288536"/>
            <a:ext cx="237744" cy="237744"/>
          </a:xfrm>
          <a:prstGeom prst="roundRect">
            <a:avLst/>
          </a:prstGeom>
          <a:noFill/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05072" y="4242816"/>
            <a:ext cx="1828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สลับ TH/EN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39312" y="5129784"/>
            <a:ext cx="237744" cy="237744"/>
          </a:xfrm>
          <a:prstGeom prst="roundRect">
            <a:avLst/>
          </a:prstGeom>
          <a:noFill/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05072" y="5084064"/>
            <a:ext cx="1828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สลับสว่าง/มืด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81344" y="1783080"/>
            <a:ext cx="2606040" cy="4343400"/>
          </a:xfrm>
          <a:prstGeom prst="roundRect">
            <a:avLst>
              <a:gd name="adj" fmla="val 8000"/>
            </a:avLst>
          </a:prstGeom>
          <a:solidFill>
            <a:srgbClr val="F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55664" y="196596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900" b="1" i="0">
                <a:solidFill>
                  <a:srgbClr val="0A5E66"/>
                </a:solidFill>
                <a:latin typeface="Leelawadee UI"/>
                <a:ea typeface="Leelawadee UI"/>
                <a:cs typeface="Leelawadee UI"/>
              </a:rPr>
              <a:t>เมาส์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55664" y="2606039"/>
            <a:ext cx="237744" cy="237744"/>
          </a:xfrm>
          <a:prstGeom prst="roundRect">
            <a:avLst/>
          </a:prstGeom>
          <a:noFill/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21424" y="2560320"/>
            <a:ext cx="1828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ลูกกลิ้ง zoom · ลากขวาเลื่อน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55664" y="3447287"/>
            <a:ext cx="237744" cy="237744"/>
          </a:xfrm>
          <a:prstGeom prst="roundRect">
            <a:avLst/>
          </a:prstGeom>
          <a:noFill/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21424" y="3401568"/>
            <a:ext cx="1828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ลากซ้ายเลือกช่วง + ป้ายเวลา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55664" y="4288536"/>
            <a:ext cx="237744" cy="237744"/>
          </a:xfrm>
          <a:prstGeom prst="roundRect">
            <a:avLst/>
          </a:prstGeom>
          <a:noFill/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21424" y="4242816"/>
            <a:ext cx="1828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ดับเบิลคลิก = Real data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55664" y="5129784"/>
            <a:ext cx="237744" cy="237744"/>
          </a:xfrm>
          <a:prstGeom prst="roundRect">
            <a:avLst/>
          </a:prstGeom>
          <a:noFill/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21424" y="5084064"/>
            <a:ext cx="1828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ปุ่ม "ดูทั้งหมด"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97696" y="1783080"/>
            <a:ext cx="2606040" cy="4343400"/>
          </a:xfrm>
          <a:prstGeom prst="roundRect">
            <a:avLst>
              <a:gd name="adj" fmla="val 8000"/>
            </a:avLst>
          </a:prstGeom>
          <a:solidFill>
            <a:srgbClr val="F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272016" y="196596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900" b="1" i="0">
                <a:solidFill>
                  <a:srgbClr val="F25C54"/>
                </a:solidFill>
                <a:latin typeface="Leelawadee UI"/>
                <a:ea typeface="Leelawadee UI"/>
                <a:cs typeface="Leelawadee UI"/>
              </a:rPr>
              <a:t>Monitoring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272016" y="2606039"/>
            <a:ext cx="237744" cy="237744"/>
          </a:xfrm>
          <a:prstGeom prst="roundRect">
            <a:avLst/>
          </a:prstGeom>
          <a:noFill/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37776" y="2560320"/>
            <a:ext cx="1828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monitor.html?demo ครบ 3 สถานะ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272016" y="3447287"/>
            <a:ext cx="237744" cy="237744"/>
          </a:xfrm>
          <a:prstGeom prst="roundRect">
            <a:avLst/>
          </a:prstGeom>
          <a:noFill/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37776" y="3401568"/>
            <a:ext cx="1828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login จริง → การ์ดข้อมูลจริง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272016" y="4288536"/>
            <a:ext cx="237744" cy="237744"/>
          </a:xfrm>
          <a:prstGeom prst="roundRect">
            <a:avLst/>
          </a:prstGeom>
          <a:noFill/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37776" y="4242816"/>
            <a:ext cx="1828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กดการ์ด → กราฟเต็ม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272016" y="5129784"/>
            <a:ext cx="237744" cy="237744"/>
          </a:xfrm>
          <a:prstGeom prst="roundRect">
            <a:avLst/>
          </a:prstGeom>
          <a:noFill/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37776" y="5084064"/>
            <a:ext cx="1828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F12 → Console ไม่มี error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ปล่อยเวอร์ชันใหม่ (Release)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เว็บจริงอัปเดตจาก branch main — commit อย่างเดียวยังไม่ขึ้นเว็บ ต้อง push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3520440" cy="1691640"/>
          </a:xfrm>
          <a:prstGeom prst="roundRect">
            <a:avLst>
              <a:gd name="adj" fmla="val 8000"/>
            </a:avLst>
          </a:prstGeom>
          <a:solidFill>
            <a:srgbClr val="F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777240" y="2011680"/>
            <a:ext cx="502920" cy="502920"/>
          </a:xfrm>
          <a:prstGeom prst="ellipse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19" y="2057400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เปลี่ยนเวอร์ชัน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51760"/>
            <a:ext cx="3108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APP_VERSION ใน site.js
+ บรรทัด "ตอนนี้ x.y" ใน CLAUDE.md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783080"/>
            <a:ext cx="3520440" cy="1691640"/>
          </a:xfrm>
          <a:prstGeom prst="roundRect">
            <a:avLst>
              <a:gd name="adj" fmla="val 8000"/>
            </a:avLst>
          </a:prstGeom>
          <a:solidFill>
            <a:srgbClr val="F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4526279" y="2011680"/>
            <a:ext cx="502920" cy="502920"/>
          </a:xfrm>
          <a:prstGeom prst="ellipse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59" y="2057400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ทดสอบ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79" y="2651760"/>
            <a:ext cx="3108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ตามเช็กลิสต์ครบทุกข้อ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783080"/>
            <a:ext cx="3520440" cy="1691640"/>
          </a:xfrm>
          <a:prstGeom prst="roundRect">
            <a:avLst>
              <a:gd name="adj" fmla="val 8000"/>
            </a:avLst>
          </a:prstGeom>
          <a:solidFill>
            <a:srgbClr val="FD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8275319" y="2011680"/>
            <a:ext cx="502920" cy="502920"/>
          </a:xfrm>
          <a:prstGeom prst="ellipse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399" y="2057400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0F1B2D"/>
                </a:solidFill>
                <a:latin typeface="Consolas"/>
                <a:ea typeface="Consolas"/>
                <a:cs typeface="Consolas"/>
              </a:rPr>
              <a:t>git status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2651760"/>
            <a:ext cx="3108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ห้ามมี samples/private/
log / xlsx / csv จริง, ~$…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03320"/>
            <a:ext cx="3520440" cy="1691640"/>
          </a:xfrm>
          <a:prstGeom prst="roundRect">
            <a:avLst>
              <a:gd name="adj" fmla="val 8000"/>
            </a:avLst>
          </a:prstGeom>
          <a:solidFill>
            <a:srgbClr val="F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777240" y="3931920"/>
            <a:ext cx="502920" cy="502920"/>
          </a:xfrm>
          <a:prstGeom prst="ellipse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19" y="3977639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0F1B2D"/>
                </a:solidFill>
                <a:latin typeface="Consolas"/>
                <a:ea typeface="Consolas"/>
                <a:cs typeface="Consolas"/>
              </a:rPr>
              <a:t>commit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572000"/>
            <a:ext cx="3108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git commit -m "Release 2.4: …"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79" y="3703320"/>
            <a:ext cx="3520440" cy="1691640"/>
          </a:xfrm>
          <a:prstGeom prst="roundRect">
            <a:avLst>
              <a:gd name="adj" fmla="val 8000"/>
            </a:avLst>
          </a:prstGeom>
          <a:solidFill>
            <a:srgbClr val="F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4526279" y="3931920"/>
            <a:ext cx="502920" cy="502920"/>
          </a:xfrm>
          <a:prstGeom prst="ellipse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59" y="3977639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0F1B2D"/>
                </a:solidFill>
                <a:latin typeface="Consolas"/>
                <a:ea typeface="Consolas"/>
                <a:cs typeface="Consolas"/>
              </a:rPr>
              <a:t>push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79" y="4572000"/>
            <a:ext cx="3108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git push origin main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19" y="3703320"/>
            <a:ext cx="3520440" cy="1691640"/>
          </a:xfrm>
          <a:prstGeom prst="roundRect">
            <a:avLst>
              <a:gd name="adj" fmla="val 8000"/>
            </a:avLst>
          </a:prstGeom>
          <a:solidFill>
            <a:srgbClr val="F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8275319" y="3931920"/>
            <a:ext cx="502920" cy="502920"/>
          </a:xfrm>
          <a:prstGeom prst="ellipse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399" y="3977639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ตรวจเว็บจริง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19" y="4572000"/>
            <a:ext cx="3108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รอ ~1 นาที → Ctrl+F5
ป้ายหัวเว็บเป็นเวอร์ชันใหม่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6692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F25C54"/>
                </a:solidFill>
                <a:latin typeface="Leelawadee UI"/>
                <a:ea typeface="Leelawadee UI"/>
                <a:cs typeface="Leelawadee UI"/>
              </a:rPr>
              <a:t>repo เป็น Public  </a:t>
            </a:r>
            <a:r>
              <a:rPr sz="140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ขั้นที่ 3 ดูด้วยตาทุกครั้ง แม้ .gitignore จะกันไว้แล้ว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F25C54"/>
                </a:solidFill>
                <a:latin typeface="Leelawadee UI"/>
                <a:ea typeface="Leelawadee UI"/>
                <a:cs typeface="Leelawadee UI"/>
              </a:rPr>
              <a:t>แก้ server/  </a:t>
            </a:r>
            <a:r>
              <a:rPr sz="140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push อย่างเดียวไม่พอ — ต้อง deploy Code.gs / worker.js เองด้วย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แก้ปัญหาที่เจอบ่อย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อาการ → สาเหตุ → วิธีแก้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37360"/>
            <a:ext cx="3657600" cy="50292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1847088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อาการ</a:t>
            </a:r>
          </a:p>
        </p:txBody>
      </p:sp>
      <p:sp>
        <p:nvSpPr>
          <p:cNvPr id="6" name="Rectangle 5"/>
          <p:cNvSpPr/>
          <p:nvPr/>
        </p:nvSpPr>
        <p:spPr>
          <a:xfrm>
            <a:off x="4343400" y="1737360"/>
            <a:ext cx="3566160" cy="50292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0" y="1847088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สาเหตุ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1737360"/>
            <a:ext cx="3566160" cy="50292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75320" y="1847088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วิธีแก้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31720"/>
            <a:ext cx="3657600" cy="484632"/>
          </a:xfrm>
          <a:prstGeom prst="rect">
            <a:avLst/>
          </a:prstGeom>
          <a:solidFill>
            <a:srgbClr val="F3F9FA"/>
          </a:solidFill>
          <a:ln w="12700">
            <a:solidFill>
              <a:srgbClr val="E6F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" y="2441448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หน้าเว็บว่าง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2331720"/>
            <a:ext cx="3566160" cy="484632"/>
          </a:xfrm>
          <a:prstGeom prst="rect">
            <a:avLst/>
          </a:prstGeom>
          <a:solidFill>
            <a:srgbClr val="F3F9FA"/>
          </a:solidFill>
          <a:ln w="12700">
            <a:solidFill>
              <a:srgbClr val="E6F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572000" y="244144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เปิดด้วยดับเบิลคลิก (file://)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2331720"/>
            <a:ext cx="3566160" cy="484632"/>
          </a:xfrm>
          <a:prstGeom prst="rect">
            <a:avLst/>
          </a:prstGeom>
          <a:solidFill>
            <a:srgbClr val="F3F9FA"/>
          </a:solidFill>
          <a:ln w="12700">
            <a:solidFill>
              <a:srgbClr val="E6F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75320" y="244144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 i="0">
                <a:solidFill>
                  <a:srgbClr val="0A5E66"/>
                </a:solidFill>
                <a:latin typeface="Leelawadee UI"/>
                <a:ea typeface="Leelawadee UI"/>
                <a:cs typeface="Leelawadee UI"/>
              </a:rPr>
              <a:t>รัน python -m http.server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843784"/>
            <a:ext cx="365760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6F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" y="295351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แก้แล้วไม่เปลี่ยน / เวอร์ชันเก่า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2843784"/>
            <a:ext cx="356616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6F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572000" y="295351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browser cache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2843784"/>
            <a:ext cx="356616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6F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275320" y="295351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 i="0">
                <a:solidFill>
                  <a:srgbClr val="0A5E66"/>
                </a:solidFill>
                <a:latin typeface="Leelawadee UI"/>
                <a:ea typeface="Leelawadee UI"/>
                <a:cs typeface="Leelawadee UI"/>
              </a:rPr>
              <a:t>Ctrl+F5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355848"/>
            <a:ext cx="3657600" cy="484632"/>
          </a:xfrm>
          <a:prstGeom prst="rect">
            <a:avLst/>
          </a:prstGeom>
          <a:solidFill>
            <a:srgbClr val="F3F9FA"/>
          </a:solidFill>
          <a:ln w="12700">
            <a:solidFill>
              <a:srgbClr val="E6F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7240" y="3465576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ทุกแถวถูกข้าม วันที่ผิด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43400" y="3355848"/>
            <a:ext cx="3566160" cy="484632"/>
          </a:xfrm>
          <a:prstGeom prst="rect">
            <a:avLst/>
          </a:prstGeom>
          <a:solidFill>
            <a:srgbClr val="F3F9FA"/>
          </a:solidFill>
          <a:ln w="12700">
            <a:solidFill>
              <a:srgbClr val="E6F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572000" y="3465576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รูปแบบวันที่ใหม่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3355848"/>
            <a:ext cx="3566160" cy="484632"/>
          </a:xfrm>
          <a:prstGeom prst="rect">
            <a:avLst/>
          </a:prstGeom>
          <a:solidFill>
            <a:srgbClr val="F3F9FA"/>
          </a:solidFill>
          <a:ln w="12700">
            <a:solidFill>
              <a:srgbClr val="E6F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275320" y="3465576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 i="0">
                <a:solidFill>
                  <a:srgbClr val="0A5E66"/>
                </a:solidFill>
                <a:latin typeface="Leelawadee UI"/>
                <a:ea typeface="Leelawadee UI"/>
                <a:cs typeface="Leelawadee UI"/>
              </a:rPr>
              <a:t>แก้ parseDateParts()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867912"/>
            <a:ext cx="365760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6F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7240" y="39776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"ไม่มีคอลัมน์ในไฟล์"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3867912"/>
            <a:ext cx="356616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6F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572000" y="39776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firmware รุ่นนี้ไม่มีคอลัมน์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6720" y="3867912"/>
            <a:ext cx="356616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6F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275320" y="39776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 i="0">
                <a:solidFill>
                  <a:srgbClr val="0A5E66"/>
                </a:solidFill>
                <a:latin typeface="Leelawadee UI"/>
                <a:ea typeface="Leelawadee UI"/>
                <a:cs typeface="Leelawadee UI"/>
              </a:rPr>
              <a:t>ปกติ — เช็กชื่อตัวพิมพ์เล็ก/ใหญ่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379976"/>
            <a:ext cx="3657600" cy="484632"/>
          </a:xfrm>
          <a:prstGeom prst="rect">
            <a:avLst/>
          </a:prstGeom>
          <a:solidFill>
            <a:srgbClr val="F3F9FA"/>
          </a:solidFill>
          <a:ln w="12700">
            <a:solidFill>
              <a:srgbClr val="E6F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77240" y="4489704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รายการขึ้น N/A เอง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43400" y="4379976"/>
            <a:ext cx="3566160" cy="484632"/>
          </a:xfrm>
          <a:prstGeom prst="rect">
            <a:avLst/>
          </a:prstGeom>
          <a:solidFill>
            <a:srgbClr val="F3F9FA"/>
          </a:solidFill>
          <a:ln w="12700">
            <a:solidFill>
              <a:srgbClr val="E6F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572000" y="4489704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กฎ "ไม่มีชิ้นส่วนในตู้"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46720" y="4379976"/>
            <a:ext cx="3566160" cy="484632"/>
          </a:xfrm>
          <a:prstGeom prst="rect">
            <a:avLst/>
          </a:prstGeom>
          <a:solidFill>
            <a:srgbClr val="F3F9FA"/>
          </a:solidFill>
          <a:ln w="12700">
            <a:solidFill>
              <a:srgbClr val="E6F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275320" y="4489704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 i="0">
                <a:solidFill>
                  <a:srgbClr val="0A5E66"/>
                </a:solidFill>
                <a:latin typeface="Leelawadee UI"/>
                <a:ea typeface="Leelawadee UI"/>
                <a:cs typeface="Leelawadee UI"/>
              </a:rPr>
              <a:t>ตั้งใจ — ดูกฎใน CLAUDE.md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4892040"/>
            <a:ext cx="365760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6F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77240" y="5001768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ไฟล์ใหญ่แล้วค้าง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43400" y="4892040"/>
            <a:ext cx="356616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6F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4572000" y="500176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แปลงข้อมูลแบบช้า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46720" y="4892040"/>
            <a:ext cx="356616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6F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8275320" y="500176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 i="0">
                <a:solidFill>
                  <a:srgbClr val="0A5E66"/>
                </a:solidFill>
                <a:latin typeface="Leelawadee UI"/>
                <a:ea typeface="Leelawadee UI"/>
                <a:cs typeface="Leelawadee UI"/>
              </a:rPr>
              <a:t>ใช้ loop ห้าม Array.from(arr, fn)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5404104"/>
            <a:ext cx="3657600" cy="484632"/>
          </a:xfrm>
          <a:prstGeom prst="rect">
            <a:avLst/>
          </a:prstGeom>
          <a:solidFill>
            <a:srgbClr val="F3F9FA"/>
          </a:solidFill>
          <a:ln w="12700">
            <a:solidFill>
              <a:srgbClr val="E6F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77240" y="551383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ไม่ได้รับรหัส OTP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43400" y="5404104"/>
            <a:ext cx="3566160" cy="484632"/>
          </a:xfrm>
          <a:prstGeom prst="rect">
            <a:avLst/>
          </a:prstGeom>
          <a:solidFill>
            <a:srgbClr val="F3F9FA"/>
          </a:solidFill>
          <a:ln w="12700">
            <a:solidFill>
              <a:srgbClr val="E6F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4572000" y="551383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อยู่ใน Spam / โควต้าอีเมลหมด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46720" y="5404104"/>
            <a:ext cx="3566160" cy="484632"/>
          </a:xfrm>
          <a:prstGeom prst="rect">
            <a:avLst/>
          </a:prstGeom>
          <a:solidFill>
            <a:srgbClr val="F3F9FA"/>
          </a:solidFill>
          <a:ln w="12700">
            <a:solidFill>
              <a:srgbClr val="E6F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275320" y="551383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 i="0">
                <a:solidFill>
                  <a:srgbClr val="0A5E66"/>
                </a:solidFill>
                <a:latin typeface="Leelawadee UI"/>
                <a:ea typeface="Leelawadee UI"/>
                <a:cs typeface="Leelawadee UI"/>
              </a:rPr>
              <a:t>ดู Spam · รอวันถัดไป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5916168"/>
            <a:ext cx="365760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6F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777240" y="6025896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 i="0">
                <a:solidFill>
                  <a:srgbClr val="0F1B2D"/>
                </a:solidFill>
                <a:latin typeface="Leelawadee UI"/>
                <a:ea typeface="Leelawadee UI"/>
                <a:cs typeface="Leelawadee UI"/>
              </a:rPr>
              <a:t>Monitoring: เชื่อมต่อไม่สำเร็จ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343400" y="5916168"/>
            <a:ext cx="356616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6F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4572000" y="6025896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 i="0">
                <a:solidFill>
                  <a:srgbClr val="1B2A3A"/>
                </a:solidFill>
                <a:latin typeface="Leelawadee UI"/>
                <a:ea typeface="Leelawadee UI"/>
                <a:cs typeface="Leelawadee UI"/>
              </a:rPr>
              <a:t>Worker / Apps Script ตั้งค่าไม่ตรง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046720" y="5916168"/>
            <a:ext cx="356616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6F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8275320" y="6025896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 i="0">
                <a:solidFill>
                  <a:srgbClr val="0A5E66"/>
                </a:solidFill>
                <a:latin typeface="Leelawadee UI"/>
                <a:ea typeface="Leelawadee UI"/>
                <a:cs typeface="Leelawadee UI"/>
              </a:rPr>
              <a:t>ทดสอบตามคู่มือขั้นที่ 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B6677"/>
                </a:solidFill>
                <a:latin typeface="Leelawadee UI"/>
                <a:ea typeface="Leelawadee UI"/>
                <a:cs typeface="Leelawadee U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กฎที่ต้องจำ</a:t>
            </a:r>
          </a:p>
        </p:txBody>
      </p:sp>
      <p:sp>
        <p:nvSpPr>
          <p:cNvPr id="3" name="Oval 2"/>
          <p:cNvSpPr/>
          <p:nvPr/>
        </p:nvSpPr>
        <p:spPr>
          <a:xfrm>
            <a:off x="777240" y="1645920"/>
            <a:ext cx="502920" cy="502920"/>
          </a:xfrm>
          <a:prstGeom prst="ellipse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1618488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หาคอลัมน์ด้วยชื่อเสมอ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201168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7FD1D8"/>
                </a:solidFill>
                <a:latin typeface="Leelawadee UI"/>
                <a:ea typeface="Leelawadee UI"/>
                <a:cs typeface="Leelawadee UI"/>
              </a:rPr>
              <a:t>ห้าม hard-code ตำแหน่งคอลัมน์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2404872"/>
            <a:ext cx="502920" cy="502920"/>
          </a:xfrm>
          <a:prstGeom prst="ellipse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37744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ค่าคงที่อยู่ที่ logformat.js ที่เดียว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770632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7FD1D8"/>
                </a:solidFill>
                <a:latin typeface="Leelawadee UI"/>
                <a:ea typeface="Leelawadee UI"/>
                <a:cs typeface="Leelawadee UI"/>
              </a:rPr>
              <a:t>ชื่อคอลัมน์ สี ตำแหน่ง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163824"/>
            <a:ext cx="502920" cy="502920"/>
          </a:xfrm>
          <a:prstGeom prst="ellipse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136392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ไฟล์ตัวอย่างต้องมีทุกเส้น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529584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7FD1D8"/>
                </a:solidFill>
                <a:latin typeface="Leelawadee UI"/>
                <a:ea typeface="Leelawadee UI"/>
                <a:cs typeface="Leelawadee UI"/>
              </a:rPr>
              <a:t>เพิ่มรายการใหม่ → แก้ make-sample.py ด้วย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22776"/>
            <a:ext cx="502920" cy="502920"/>
          </a:xfrm>
          <a:prstGeom prst="ellipse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895344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ห้าม commit ข้อมูลจริง / ค่าลับ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288536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7FD1D8"/>
                </a:solidFill>
                <a:latin typeface="Leelawadee UI"/>
                <a:ea typeface="Leelawadee UI"/>
                <a:cs typeface="Leelawadee UI"/>
              </a:rPr>
              <a:t>repo เป็น Public — ดู git status ก่อน push · ค่าลับอยู่ใน Google / Cloudflare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4681728"/>
            <a:ext cx="502920" cy="502920"/>
          </a:xfrm>
          <a:prstGeom prst="ellipse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654296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ส่วนที่ใช้ร่วมกันอยู่ที่เดียว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5047488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7FD1D8"/>
                </a:solidFill>
                <a:latin typeface="Leelawadee UI"/>
                <a:ea typeface="Leelawadee UI"/>
                <a:cs typeface="Leelawadee UI"/>
              </a:rPr>
              <a:t>site.js · login-ui.js · หน้ากราฟเดียว (analyze.html)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5440679"/>
            <a:ext cx="502920" cy="502920"/>
          </a:xfrm>
          <a:prstGeom prst="ellipse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413247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CLAUDE.md คือสเปกหลัก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80644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7FD1D8"/>
                </a:solidFill>
                <a:latin typeface="Leelawadee UI"/>
                <a:ea typeface="Leelawadee UI"/>
                <a:cs typeface="Leelawadee UI"/>
              </a:rPr>
              <a:t>กฎใหม่ทุกข้อต้องลงที่นี่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21792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B8C4D4"/>
                </a:solidFill>
                <a:latin typeface="Leelawadee UI"/>
                <a:ea typeface="Leelawadee UI"/>
                <a:cs typeface="Leelawadee UI"/>
              </a:rPr>
              <a:t>อ่านต่อ: docs/WORKFLOW.md · docs/GUIDE.md · docs/MONITORING-SETUP.md · CLAUDE.md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